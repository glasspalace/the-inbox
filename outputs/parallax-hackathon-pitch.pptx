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e2d088b7ef423c" /><Relationship Type="http://schemas.openxmlformats.org/officeDocument/2006/relationships/extended-properties" Target="/docProps/app.xml" Id="Re02087e746f74675" /><Relationship Type="http://schemas.openxmlformats.org/officeDocument/2006/relationships/officeDocument" Target="/ppt/presentation.xml" Id="Rb8ad7fb295f449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451b17a5c84989"/>
  </p:sldMasterIdLst>
  <p:notesMasterIdLst>
    <p:notesMasterId xmlns:r="http://schemas.openxmlformats.org/officeDocument/2006/relationships" r:id="R19ecdd483eb6467a"/>
  </p:notesMasterIdLst>
  <p:sldIdLst>
    <p:sldId xmlns:r="http://schemas.openxmlformats.org/officeDocument/2006/relationships" id="256" r:id="R413dc1a159524cae"/>
    <p:sldId xmlns:r="http://schemas.openxmlformats.org/officeDocument/2006/relationships" id="257" r:id="R1c067fbc8438450f"/>
    <p:sldId xmlns:r="http://schemas.openxmlformats.org/officeDocument/2006/relationships" id="258" r:id="R2ec5ac29b196459f"/>
    <p:sldId xmlns:r="http://schemas.openxmlformats.org/officeDocument/2006/relationships" id="259" r:id="R0f155bab3c094c5b"/>
    <p:sldId xmlns:r="http://schemas.openxmlformats.org/officeDocument/2006/relationships" id="260" r:id="R138f306b260743a2"/>
    <p:sldId xmlns:r="http://schemas.openxmlformats.org/officeDocument/2006/relationships" id="261" r:id="Ra4b01bb534884f14"/>
    <p:sldId xmlns:r="http://schemas.openxmlformats.org/officeDocument/2006/relationships" id="262" r:id="Rfe367a74600c4b2a"/>
    <p:sldId xmlns:r="http://schemas.openxmlformats.org/officeDocument/2006/relationships" id="263" r:id="Rf030a354154549f2"/>
    <p:sldId xmlns:r="http://schemas.openxmlformats.org/officeDocument/2006/relationships" id="264" r:id="Rd4e8cafc1f224b2b"/>
    <p:sldId xmlns:r="http://schemas.openxmlformats.org/officeDocument/2006/relationships" id="265" r:id="Rb4062a96d06548e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29ea3aef8f4fa1" /><Relationship Type="http://schemas.openxmlformats.org/officeDocument/2006/relationships/slideMaster" Target="/ppt/slideMasters/slideMaster1.xml" Id="R82451b17a5c84989" /><Relationship Type="http://schemas.openxmlformats.org/officeDocument/2006/relationships/notesMaster" Target="/ppt/notesMasters/notesMaster1.xml" Id="R19ecdd483eb6467a" /><Relationship Type="http://schemas.openxmlformats.org/officeDocument/2006/relationships/presProps" Target="/ppt/presProps.xml" Id="R1d5381e220b049e5" /><Relationship Type="http://schemas.openxmlformats.org/officeDocument/2006/relationships/tableStyles" Target="/ppt/tableStyles.xml" Id="Raec45667b0ad4b2e" /><Relationship Type="http://schemas.openxmlformats.org/officeDocument/2006/relationships/slide" Target="/ppt/slides/slide1.xml" Id="R413dc1a159524cae" /><Relationship Type="http://schemas.openxmlformats.org/officeDocument/2006/relationships/slide" Target="/ppt/slides/slide2.xml" Id="R1c067fbc8438450f" /><Relationship Type="http://schemas.openxmlformats.org/officeDocument/2006/relationships/slide" Target="/ppt/slides/slide3.xml" Id="R2ec5ac29b196459f" /><Relationship Type="http://schemas.openxmlformats.org/officeDocument/2006/relationships/slide" Target="/ppt/slides/slide4.xml" Id="R0f155bab3c094c5b" /><Relationship Type="http://schemas.openxmlformats.org/officeDocument/2006/relationships/slide" Target="/ppt/slides/slide5.xml" Id="R138f306b260743a2" /><Relationship Type="http://schemas.openxmlformats.org/officeDocument/2006/relationships/slide" Target="/ppt/slides/slide6.xml" Id="Ra4b01bb534884f14" /><Relationship Type="http://schemas.openxmlformats.org/officeDocument/2006/relationships/slide" Target="/ppt/slides/slide7.xml" Id="Rfe367a74600c4b2a" /><Relationship Type="http://schemas.openxmlformats.org/officeDocument/2006/relationships/slide" Target="/ppt/slides/slide8.xml" Id="Rf030a354154549f2" /><Relationship Type="http://schemas.openxmlformats.org/officeDocument/2006/relationships/slide" Target="/ppt/slides/slide9.xml" Id="Rd4e8cafc1f224b2b" /><Relationship Type="http://schemas.openxmlformats.org/officeDocument/2006/relationships/slide" Target="/ppt/slides/slide10.xml" Id="Rb4062a96d06548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4586a677544d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e396ae475d4740" /><Relationship Type="http://schemas.openxmlformats.org/officeDocument/2006/relationships/notesMaster" Target="/ppt/notesMasters/notesMaster1.xml" Id="Ra293813c077443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c3b1fb5e8e4a32" /><Relationship Type="http://schemas.openxmlformats.org/officeDocument/2006/relationships/notesMaster" Target="/ppt/notesMasters/notesMaster1.xml" Id="R5557fe0b728c4b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4b712e0c784020" /><Relationship Type="http://schemas.openxmlformats.org/officeDocument/2006/relationships/notesMaster" Target="/ppt/notesMasters/notesMaster1.xml" Id="R4f089808c8ae42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99b106e5f54cab" /><Relationship Type="http://schemas.openxmlformats.org/officeDocument/2006/relationships/notesMaster" Target="/ppt/notesMasters/notesMaster1.xml" Id="R05eb4585276249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de6534b5cd42d5" /><Relationship Type="http://schemas.openxmlformats.org/officeDocument/2006/relationships/notesMaster" Target="/ppt/notesMasters/notesMaster1.xml" Id="R2ca21f5c549c45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6563ef45294e36" /><Relationship Type="http://schemas.openxmlformats.org/officeDocument/2006/relationships/notesMaster" Target="/ppt/notesMasters/notesMaster1.xml" Id="R02bd9b4083c545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66bd32aec347ee" /><Relationship Type="http://schemas.openxmlformats.org/officeDocument/2006/relationships/notesMaster" Target="/ppt/notesMasters/notesMaster1.xml" Id="Rda3c3a68f6e24a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b22c300bff42ea" /><Relationship Type="http://schemas.openxmlformats.org/officeDocument/2006/relationships/notesMaster" Target="/ppt/notesMasters/notesMaster1.xml" Id="R22d30ffed5d84ff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0ed9bf756c4863" /><Relationship Type="http://schemas.openxmlformats.org/officeDocument/2006/relationships/notesMaster" Target="/ppt/notesMasters/notesMaster1.xml" Id="R5bc0be3163b94e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34abb6181f483d" /><Relationship Type="http://schemas.openxmlformats.org/officeDocument/2006/relationships/notesMaster" Target="/ppt/notesMasters/notesMaster1.xml" Id="R8de971f787cd41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8bd6cb3a344e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80c53da7914c8e" /><Relationship Type="http://schemas.openxmlformats.org/officeDocument/2006/relationships/slideLayout" Target="/ppt/slideLayouts/slideLayout1.xml" Id="R96780ab2edce4b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780ab2edce4b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1a1757a8246fd" /><Relationship Type="http://schemas.openxmlformats.org/officeDocument/2006/relationships/notesSlide" Target="/ppt/notesSlides/notesSlide1.xml" Id="R8cb6d1c7750243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dd23bbe494c2a" /><Relationship Type="http://schemas.openxmlformats.org/officeDocument/2006/relationships/notesSlide" Target="/ppt/notesSlides/notesSlide2.xml" Id="Re84b9f0eb25243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b05cd72024a54" /><Relationship Type="http://schemas.openxmlformats.org/officeDocument/2006/relationships/notesSlide" Target="/ppt/notesSlides/notesSlide3.xml" Id="R39c69eb4311649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5d510f08c847e0" /><Relationship Type="http://schemas.openxmlformats.org/officeDocument/2006/relationships/notesSlide" Target="/ppt/notesSlides/notesSlide4.xml" Id="R7b08869fab3442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a1d7ce8794ec4" /><Relationship Type="http://schemas.openxmlformats.org/officeDocument/2006/relationships/notesSlide" Target="/ppt/notesSlides/notesSlide5.xml" Id="Rf38fb27935aa4a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6fe65d0f442f8" /><Relationship Type="http://schemas.openxmlformats.org/officeDocument/2006/relationships/notesSlide" Target="/ppt/notesSlides/notesSlide6.xml" Id="Rea37eae1a14d41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98d62a0734027" /><Relationship Type="http://schemas.openxmlformats.org/officeDocument/2006/relationships/notesSlide" Target="/ppt/notesSlides/notesSlide7.xml" Id="R6ed8263c59ac43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3bfed235141ea" /><Relationship Type="http://schemas.openxmlformats.org/officeDocument/2006/relationships/notesSlide" Target="/ppt/notesSlides/notesSlide8.xml" Id="R096ea8e3aa9943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061acca6fe4dfb" /><Relationship Type="http://schemas.openxmlformats.org/officeDocument/2006/relationships/notesSlide" Target="/ppt/notesSlides/notesSlide9.xml" Id="R7fc10e30ac434d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3b16d7fa84465" /><Relationship Type="http://schemas.openxmlformats.org/officeDocument/2006/relationships/notesSlide" Target="/ppt/notesSlides/notesSlide10.xml" Id="R5c1b7237fdbb43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3030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BF8A01-BCF5-4680-9FB1-A835C3D3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38A65-385B-4110-87EE-88ECA5B8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72609-2665-4FE9-A6E1-B79A08B0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50964-EAC6-4512-BEBE-AEB5F08C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ACB655-1F48-4AA1-BBAE-0A7D3CFC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95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F21B0-C6E1-4683-BCDF-9177AA7A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B03343-0FD1-402E-984F-BC7255ED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8D537-B2B3-4DDF-AC92-A5860C67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8BF086-CC5F-405F-833F-5E3FB2EC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62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549FE8-35C4-495F-B470-222E4353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6F139B-FD13-46D1-A6ED-CBADD0A5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3DA9F-77EC-4F15-AC3B-61F41B74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62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DA8BCF-AEA6-4414-B9E3-A799B4F1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8B5D5-FF23-4E56-9994-6F456094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95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6F70A2-D0D9-455F-B186-CE1DCC06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8619F-A346-49FB-A286-45396EC3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EAD01E-47CD-476A-AE6C-49116FB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95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A21B8F-2623-45A8-88BF-8F9C9C19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284CA2-ED82-4DF4-B83F-18F1312E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919D79-788B-401E-9C92-E9998CFD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209C32-AE75-4942-8947-B156C57E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2D8FE0-BA23-4E28-B8BB-C9DC373CF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607168-6B8B-44B4-B2C1-16BC9805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466B2D-C8C9-41C7-90B6-0E186494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FAAFED-2B90-4EBD-8CB3-F883B36A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2E0AE1-B46C-4136-BEA4-37F6D001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7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5CBDEA-2948-4B46-B88E-C0F792B0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61DF6A-AEEC-466B-839B-6FAA537A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070707"/>
                </a:solidFill>
              </a:defRPr>
            </a:pPr>
            <a:r>
              <a:rPr sz="1350" b="1" i="0">
                <a:solidFill>
                  <a:srgbClr val="070707"/>
                </a:solidFill>
              </a:rPr>
              <a:t>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0AF04E-DD3A-4EDA-B2F8-0BE91A2B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625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5F1E8"/>
                </a:solidFill>
              </a:defRPr>
            </a:pPr>
            <a:r>
              <a:rPr sz="825" b="1" i="0">
                <a:solidFill>
                  <a:srgbClr val="F5F1E8"/>
                </a:solidFill>
              </a:rPr>
              <a:t>PARALLAX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4D8A3E-0286-4F09-9FD8-F4C5E720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3850"/>
            <a:ext cx="3390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7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D89712-F180-400C-96A7-85768F99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1000"/>
            <a:ext cx="742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86205F-5E58-4123-8C75-7E3D65AE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6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75" b="1" i="0">
                <a:solidFill>
                  <a:srgbClr val="070707"/>
                </a:solidFill>
              </a:defRPr>
            </a:pPr>
            <a:r>
              <a:rPr sz="675" b="1" i="0">
                <a:solidFill>
                  <a:srgbClr val="070707"/>
                </a:solidFill>
              </a:rPr>
              <a:t>HOME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F44E66-8473-46DB-96F5-CDB03CB9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76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75" b="1" i="0">
                <a:solidFill>
                  <a:srgbClr val="9B9A96"/>
                </a:solidFill>
              </a:defRPr>
            </a:pPr>
            <a:r>
              <a:rPr sz="675" b="1" i="0">
                <a:solidFill>
                  <a:srgbClr val="9B9A96"/>
                </a:solidFill>
              </a:rPr>
              <a:t>QUESTIONS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CD6747-EE5D-48D6-9F29-E38D44D9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76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75" b="1" i="0">
                <a:solidFill>
                  <a:srgbClr val="9B9A96"/>
                </a:solidFill>
              </a:defRPr>
            </a:pPr>
            <a:r>
              <a:rPr sz="675" b="1" i="0">
                <a:solidFill>
                  <a:srgbClr val="9B9A96"/>
                </a:solidFill>
              </a:rPr>
              <a:t>TOPICS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F0FB20-11EA-4FA9-88E2-21FAB911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76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75" b="1" i="0">
                <a:solidFill>
                  <a:srgbClr val="9B9A96"/>
                </a:solidFill>
              </a:defRPr>
            </a:pPr>
            <a:r>
              <a:rPr sz="675" b="1" i="0">
                <a:solidFill>
                  <a:srgbClr val="9B9A96"/>
                </a:solidFill>
              </a:rPr>
              <a:t>ROOM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759B9F-1DF9-4118-A994-F2C351C6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620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B9A96"/>
                </a:solidFill>
              </a:defRPr>
            </a:pPr>
            <a:r>
              <a:rPr sz="900" b="1" i="0">
                <a:solidFill>
                  <a:srgbClr val="9B9A96"/>
                </a:solidFill>
              </a:rPr>
              <a:t>ANONYMOUS VIDEO ROOMS FOR DIFFICULT OPINIONS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D87963-65E7-473A-8535-78ED7214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61912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800" b="0" i="1">
                <a:solidFill>
                  <a:srgbClr val="F5F1E8"/>
                </a:solidFill>
              </a:defRPr>
            </a:pPr>
            <a:r>
              <a:rPr sz="7800" b="0" i="1">
                <a:solidFill>
                  <a:srgbClr val="F5F1E8"/>
                </a:solidFill>
              </a:rPr>
              <a:t>Parallax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93A0AD-816A-4DEC-9CD0-71F8BBC2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581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1E8"/>
                </a:solidFill>
              </a:defRPr>
            </a:pPr>
            <a:r>
              <a:rPr sz="1575" b="0" i="0">
                <a:solidFill>
                  <a:srgbClr val="F5F1E8"/>
                </a:solidFill>
              </a:rPr>
              <a:t>Talk to someone standing on the other side of a real question. No feed, no pile-on, no infinite thread. Just a room, a counterview, and enough context to stay honest.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1D2D65-9F59-42C2-B56E-7EF18DD5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81475"/>
            <a:ext cx="1828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solidFill>
              <a:srgbClr val="E83D3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DED523-6913-4D26-8EC9-6B3D2A90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33850"/>
            <a:ext cx="1828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67AD58-2A40-444D-90A3-5D1FA389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76725"/>
            <a:ext cx="1562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70707"/>
                </a:solidFill>
              </a:defRPr>
            </a:pPr>
            <a:r>
              <a:rPr sz="900" b="1" i="0">
                <a:solidFill>
                  <a:srgbClr val="070707"/>
                </a:solidFill>
              </a:rPr>
              <a:t>BEGIN QUESTIONS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881EED-DCC3-4352-9058-F931B223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13385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F686838-58B4-4DD0-87A9-507522CF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276725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5F1E8"/>
                </a:solidFill>
              </a:defRPr>
            </a:pPr>
            <a:r>
              <a:rPr sz="900" b="1" i="0">
                <a:solidFill>
                  <a:srgbClr val="F5F1E8"/>
                </a:solidFill>
              </a:rPr>
              <a:t>OPEN TOPICS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17A2F2-7F5E-482A-B0D5-BB01A628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52550"/>
            <a:ext cx="3143250" cy="3143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52400">
            <a:solidFill>
              <a:srgbClr val="F5F1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1EA4A0-CFE0-4DC2-8BE5-13FC400D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38450"/>
            <a:ext cx="1371600" cy="1371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0">
            <a:solidFill>
              <a:srgbClr val="F5F1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8314CB4-7AB2-41BB-9BED-6FD85306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62100"/>
            <a:ext cx="2724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EFEC09B-8374-47ED-A7A3-521E0F4E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2457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1E8"/>
                </a:solidFill>
              </a:defRPr>
            </a:pPr>
            <a:r>
              <a:rPr sz="1350" b="1" i="0">
                <a:solidFill>
                  <a:srgbClr val="F5F1E8"/>
                </a:solidFill>
              </a:rPr>
              <a:t>Question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3738357-68DA-4BC6-9DF6-88BD306C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8003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46826AF-882E-4BB4-9A80-3CCA4EB8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2890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0BDD9C-BD2B-40BE-805D-CDF22D21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574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B397E8B-F159-4156-B695-CDC0D9E8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003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B1F00BB-F9D0-40E2-B187-3CB2FEEC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B7B60A7-A0F2-4E2E-8849-9D5E4606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574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9EE9A5A-9404-4B60-968A-54DBAA99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003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AAA79BB-EF66-4ADE-981F-3F52ADDF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2890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B3A3B4-491B-49C4-898B-3FD04D08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574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4CCA7E6-AE0C-4CD1-84A7-7DAF9358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003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8EDD841-AD5D-45CA-9B8E-89D89765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2890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A2D28C7-DFA1-4572-AAB8-F91843DE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574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A9049C4-03D4-4420-B9FF-B9A7FE33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003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15EE5E7-5ABE-4FAE-B71C-D806BFC9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2890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7427BFE-DE45-4BAA-ADFD-D824F80D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57600"/>
            <a:ext cx="1962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226E008-FC14-4D75-918D-D5E4314C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7190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1E8"/>
                </a:solidFill>
              </a:defRPr>
            </a:pPr>
            <a:r>
              <a:rPr sz="1350" b="1" i="0">
                <a:solidFill>
                  <a:srgbClr val="F5F1E8"/>
                </a:solidFill>
              </a:rPr>
              <a:t>Context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F0EA31C-BF67-4EDA-976F-BDC3C37D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5290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44D53AF-1BAE-4316-AA82-7854178B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814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6005767-2791-47F5-B51F-1C270A6E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81000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CDAB5AB-5301-42F7-8C5E-FD1E065E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15290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9837599-3C7B-46A3-9819-2614B264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9814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E6D5B94-7CF0-4BEC-9545-716B0A66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81000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63F26FE-1800-4EBF-8757-A2696302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15290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8D39047-CF1F-4205-9E83-E2DED4C0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9814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CB23514-8FA2-4A20-BF33-E4661F46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81000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D9CA005-0A47-49BE-9F4F-687099B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15290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AA48172-8290-4673-A969-95FC8A30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53149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350" b="0" i="1">
                <a:solidFill>
                  <a:srgbClr val="F5F1E8"/>
                </a:solidFill>
              </a:defRPr>
            </a:pPr>
            <a:r>
              <a:rPr sz="7350" b="0" i="1">
                <a:solidFill>
                  <a:srgbClr val="F5F1E8"/>
                </a:solidFill>
              </a:rPr>
              <a:t>Enter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EF91957-BDAD-43DD-97F0-0328C971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PARALLAX / MAIN 21a3756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2B0A2E9-C161-4F9F-ACE8-18618941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206429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3030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C6AF80-5247-4333-A591-B767328C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0C3A8-5E23-4EDF-80D1-A757DFB6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E5D7AA-FBA7-41DF-9321-5D1ADE31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005EF-1162-46E1-9411-E323B59F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150E3-33FD-4BF7-A3F1-5C5C83950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95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C9E0A-8FA0-4CD0-B555-81873B12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C1999-D873-4FFB-8E8A-5E27D162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9142F5-99E9-4BA2-B77E-12027EAC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5AEE8C-33E9-475F-931B-0CE947A1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62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25C373-9195-47D5-A2CE-334465E4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F44C30-501D-437D-A548-E972C1AA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97E277-A587-4753-A4BB-326CCF56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62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25172-89BE-4BFD-8531-493912EA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FA70A0-FEF4-4BD8-9286-315056EA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95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B3D7D7-9C3C-4781-8F61-25C480EC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CE87B0-6208-4CBA-B654-4EE234F8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8BD62E-400F-40AF-B08C-CA83A7F8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95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8FDF1C-9507-443A-91F8-906F8739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6E3CAB-1BF9-4B41-9A97-F20BBC0D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362A33-03F0-4411-85EB-C8A962E0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13779E-F4EC-4A6F-923F-697E4B1F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EA0BB6-B720-456E-AB7B-C0B96129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D837BF-9BB0-4D74-87F7-5BDC2917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F13182-3B86-4699-A355-51E21549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8772CF-0D30-46A9-A934-90041B2B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AF2C18-154F-4C1C-9EC4-2B60D2E6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B9A96"/>
                </a:solidFill>
              </a:defRPr>
            </a:pPr>
            <a:r>
              <a:rPr sz="900" b="1" i="0">
                <a:solidFill>
                  <a:srgbClr val="9B9A96"/>
                </a:solidFill>
              </a:rPr>
              <a:t>PROBLEM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E8E234-AE56-40CF-8F03-BB5B2E63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8763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0" i="0">
                <a:solidFill>
                  <a:srgbClr val="F5F1E8"/>
                </a:solidFill>
              </a:defRPr>
            </a:pPr>
            <a:r>
              <a:rPr sz="4350" b="0" i="0">
                <a:solidFill>
                  <a:srgbClr val="F5F1E8"/>
                </a:solidFill>
              </a:rPr>
              <a:t>The internet is good at contact, bad at encounter.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E44959-F5F5-4053-900A-052E39D3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5F1E8"/>
                </a:solidFill>
              </a:defRPr>
            </a:pPr>
            <a:r>
              <a:rPr sz="1650" b="0" i="0">
                <a:solidFill>
                  <a:srgbClr val="F5F1E8"/>
                </a:solidFill>
              </a:rPr>
              <a:t>Feeds flatten people into positions. Random chat creates contact without purpose. Debate spaces reward performance instead of curiosity.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C7672A-50F7-48C6-828F-81B01BD6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285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3DD6B3-34B4-4248-AA28-34692DFD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85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0" i="1">
                <a:solidFill>
                  <a:srgbClr val="E83D32"/>
                </a:solidFill>
              </a:defRPr>
            </a:pPr>
            <a:r>
              <a:rPr sz="3600" b="0" i="1">
                <a:solidFill>
                  <a:srgbClr val="E83D32"/>
                </a:solidFill>
              </a:rPr>
              <a:t>01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AA8C16-2633-47E2-ABCF-1721115A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F5F1E8"/>
                </a:solidFill>
              </a:defRPr>
            </a:pPr>
            <a:r>
              <a:rPr sz="1950" b="0" i="0">
                <a:solidFill>
                  <a:srgbClr val="F5F1E8"/>
                </a:solidFill>
              </a:rPr>
              <a:t>No shared frame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D258AA-6A4E-4675-BB8D-824B4F50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0150"/>
            <a:ext cx="2305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B9A96"/>
                </a:solidFill>
              </a:defRPr>
            </a:pPr>
            <a:r>
              <a:rPr sz="1050" b="0" i="0">
                <a:solidFill>
                  <a:srgbClr val="9B9A96"/>
                </a:solidFill>
              </a:rPr>
              <a:t>People argue past each other because the question is never bounded.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1D20D5-C4B1-4F53-B435-6994E458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33800"/>
            <a:ext cx="285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53E6E2-C89A-4F16-BF51-001121EA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943350"/>
            <a:ext cx="85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0" i="1">
                <a:solidFill>
                  <a:srgbClr val="E83D32"/>
                </a:solidFill>
              </a:defRPr>
            </a:pPr>
            <a:r>
              <a:rPr sz="3600" b="0" i="1">
                <a:solidFill>
                  <a:srgbClr val="E83D32"/>
                </a:solidFill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F2B6CB-B7E3-4EB0-BAA5-880E7BBE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9105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F5F1E8"/>
                </a:solidFill>
              </a:defRPr>
            </a:pPr>
            <a:r>
              <a:rPr sz="1950" b="0" i="0">
                <a:solidFill>
                  <a:srgbClr val="F5F1E8"/>
                </a:solidFill>
              </a:rPr>
              <a:t>No safety layer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4D6676-B2A5-4ADA-BA25-FB322130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010150"/>
            <a:ext cx="2305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B9A96"/>
                </a:solidFill>
              </a:defRPr>
            </a:pPr>
            <a:r>
              <a:rPr sz="1050" b="0" i="0">
                <a:solidFill>
                  <a:srgbClr val="9B9A96"/>
                </a:solidFill>
              </a:rPr>
              <a:t>Video rooms need moderation, reporting, and a reliable exit.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A00B28-29C3-4B9F-B14A-60E7FCE4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33800"/>
            <a:ext cx="285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D408B7-4F33-4063-89BA-B4E3049C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43350"/>
            <a:ext cx="85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0" i="1">
                <a:solidFill>
                  <a:srgbClr val="E83D32"/>
                </a:solidFill>
              </a:defRPr>
            </a:pPr>
            <a:r>
              <a:rPr sz="3600" b="0" i="1">
                <a:solidFill>
                  <a:srgbClr val="E83D32"/>
                </a:solidFill>
              </a:rPr>
              <a:t>03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F2E514-C51D-482F-AFF8-6D1CEFF1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9105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F5F1E8"/>
                </a:solidFill>
              </a:defRPr>
            </a:pPr>
            <a:r>
              <a:rPr sz="1950" b="0" i="0">
                <a:solidFill>
                  <a:srgbClr val="F5F1E8"/>
                </a:solidFill>
              </a:rPr>
              <a:t>No factual rail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015A51-1B23-450F-8BFF-FB6845D2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10150"/>
            <a:ext cx="2305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B9A96"/>
                </a:solidFill>
              </a:defRPr>
            </a:pPr>
            <a:r>
              <a:rPr sz="1050" b="0" i="0">
                <a:solidFill>
                  <a:srgbClr val="9B9A96"/>
                </a:solidFill>
              </a:rPr>
              <a:t>Verifiable claims need context without turning the app into a referee.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F0E402-99BA-4D51-B6B6-09912DBD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PARALLAX / MAIN 21a3756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E1F512-D306-4DC2-92C3-2CC1C7A2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711321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3030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0C4D33-70E1-468C-B563-95CEFD65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C07F6-EF46-4866-98C6-EA38D319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8DEAD3-48A5-4CC7-8B4B-74F4F544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D39DE-E27E-4B20-A748-BDC6BD00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08A7E3-953C-4C56-B893-2549674C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95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09941B-ABE4-495E-9D54-A83CAFE3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B6840-09EC-480F-BE92-8B2712BC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94E989-FC61-4CD1-8095-46B8D34B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651F4C-370D-4EBD-90D2-40F2C24B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62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4A0FB-802C-4AEA-9C4F-A3FAF30C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1E9B7F-EFA6-4EE7-B4EC-3149179F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958F87-BCFC-41EA-9239-F609D197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62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D9D940-88D0-4C34-9093-9ABE0DBE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E84D4D-161A-40F2-B659-C4A4FF6A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95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9712AA-9625-4713-8CA9-5210E0C2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46DBE2-2E2A-4DE4-A57A-EC3B7D6E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C09B31-2654-4B79-8C68-AB43FFD3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95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186BA0-1669-4520-93F3-5186A5EC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43E7E6-15FC-49F5-B4BE-C4BF9D42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8A6EBF-E6CB-4452-9776-6675A17C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740C2F-607B-47AE-AD18-CAC4CE13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F0FD30-F202-4F5E-A8DF-F7E418E3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9B637C-46D3-4F4B-817D-92505D41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FEBC09-A0A6-4A89-AB73-6B21A3A0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40CEEE-C7E9-4EC5-9648-1BD34510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C2EB59-AEC0-41B9-B858-B9EC9705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B9A96"/>
                </a:solidFill>
              </a:defRPr>
            </a:pPr>
            <a:r>
              <a:rPr sz="900" b="1" i="0">
                <a:solidFill>
                  <a:srgbClr val="9B9A96"/>
                </a:solidFill>
              </a:rPr>
              <a:t>SOLUTION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8CE43C-6D45-43D4-A6F3-63E4D94C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828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0" i="0">
                <a:solidFill>
                  <a:srgbClr val="F5F1E8"/>
                </a:solidFill>
              </a:defRPr>
            </a:pPr>
            <a:r>
              <a:rPr sz="4650" b="0" i="0">
                <a:solidFill>
                  <a:srgbClr val="F5F1E8"/>
                </a:solidFill>
              </a:rPr>
              <a:t>A temporary room for a useful counterview.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0B2578-49B3-48CD-8474-D1D397FF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431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5F1E8"/>
                </a:solidFill>
              </a:defRPr>
            </a:pPr>
            <a:r>
              <a:rPr sz="1575" b="0" i="0">
                <a:solidFill>
                  <a:srgbClr val="F5F1E8"/>
                </a:solidFill>
              </a:rPr>
              <a:t>Parallax turns disagreement into a sequence: calibrate, choose a tension, wait for an opposite match, enter a moderated video room, then leave or re-queue.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36062-92DF-477A-B8DE-BCF4BC9A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19500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925A82-D896-430F-BF74-64F5BA6D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29050"/>
            <a:ext cx="838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0" i="1">
                <a:solidFill>
                  <a:srgbClr val="E83D32"/>
                </a:solidFill>
              </a:defRPr>
            </a:pPr>
            <a:r>
              <a:rPr sz="3150" b="0" i="1">
                <a:solidFill>
                  <a:srgbClr val="E83D32"/>
                </a:solidFill>
              </a:rPr>
              <a:t>01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41DD3-F319-4807-A2FE-C7707B26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005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5F1E8"/>
                </a:solidFill>
              </a:defRPr>
            </a:pPr>
            <a:r>
              <a:rPr sz="1200" b="1" i="0">
                <a:solidFill>
                  <a:srgbClr val="F5F1E8"/>
                </a:solidFill>
              </a:rPr>
              <a:t>Answer the pressure-test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C0F592-F6FC-4DC1-AC58-FD9476D3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291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3D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261EDC-ED68-495A-9970-F884EF7D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19500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333B6E-8386-44D0-AC19-85F1719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29050"/>
            <a:ext cx="838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0" i="1">
                <a:solidFill>
                  <a:srgbClr val="E83D32"/>
                </a:solidFill>
              </a:defRPr>
            </a:pPr>
            <a:r>
              <a:rPr sz="3150" b="0" i="1">
                <a:solidFill>
                  <a:srgbClr val="E83D32"/>
                </a:solidFill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5258B9-B290-49DB-BAF9-F24F2036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4005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5F1E8"/>
                </a:solidFill>
              </a:defRPr>
            </a:pPr>
            <a:r>
              <a:rPr sz="1200" b="1" i="0">
                <a:solidFill>
                  <a:srgbClr val="F5F1E8"/>
                </a:solidFill>
              </a:rPr>
              <a:t>Pick a live question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F2086D-AF14-4FDB-9EFA-4280B057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291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3D3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28B010-F4EE-4971-BC4E-655CE695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619500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1D7944-54D2-4F51-947D-914F2CBE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29050"/>
            <a:ext cx="838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0" i="1">
                <a:solidFill>
                  <a:srgbClr val="E83D32"/>
                </a:solidFill>
              </a:defRPr>
            </a:pPr>
            <a:r>
              <a:rPr sz="3150" b="0" i="1">
                <a:solidFill>
                  <a:srgbClr val="E83D32"/>
                </a:solidFill>
              </a:rPr>
              <a:t>03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855D95-D6A6-40A6-AE6F-720EC616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4005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70707"/>
                </a:solidFill>
              </a:defRPr>
            </a:pPr>
            <a:r>
              <a:rPr sz="1200" b="1" i="0">
                <a:solidFill>
                  <a:srgbClr val="070707"/>
                </a:solidFill>
              </a:rPr>
              <a:t>Match on the opposite axis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7A1FF39-4B59-4987-9AAC-20C9CC24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291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3D3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391868-6704-49DA-83B7-C2E7EA65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19500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925EF2-271A-42AB-B684-B951D6B4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29050"/>
            <a:ext cx="838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0" i="1">
                <a:solidFill>
                  <a:srgbClr val="E83D32"/>
                </a:solidFill>
              </a:defRPr>
            </a:pPr>
            <a:r>
              <a:rPr sz="3150" b="0" i="1">
                <a:solidFill>
                  <a:srgbClr val="E83D32"/>
                </a:solidFill>
              </a:rPr>
              <a:t>04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104A40-D08F-40CD-BD6D-FC203C0D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005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5F1E8"/>
                </a:solidFill>
              </a:defRPr>
            </a:pPr>
            <a:r>
              <a:rPr sz="1200" b="1" i="0">
                <a:solidFill>
                  <a:srgbClr val="F5F1E8"/>
                </a:solidFill>
              </a:rPr>
              <a:t>Talk with context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6F6462-41ED-4415-BD1C-5A5DD4FA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PARALLAX / MAIN 21a3756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F4436A8-85E5-4AD2-8AA0-3A47144F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278807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3030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55AACA-6C2D-4441-99DE-FF5D42BB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077CF-426A-4D73-97D6-A020A744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14F10-D82A-49BA-8023-7A0BD91E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42F74-89B0-41E6-A407-350F8C02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47D47-B211-493C-A1D4-D4F408E7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95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FC7A4-EC9C-4654-9DC5-9F246F29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B55EA-546E-47FF-88BB-5EEFD737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8A6A5-07B6-4403-ACD4-843A63B3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56F9E2-1BF3-4508-87D2-0D464E3B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62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51F606-E1B1-4368-A385-C9B385DD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8B3C9C-0AD5-4E2F-91D5-4DB8DEF7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2D563D-2E36-4C0F-AD19-1DC33C94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62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668D0D-443C-4748-BA8E-96A070DA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D7537B-129B-4065-9EE7-7BFB77ED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95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00EFE-FB4B-4CA3-B33C-B8EA9266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9EE442-B383-4E61-8D1F-7A987086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05B28E-81AF-46F9-88E3-50912D0F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95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4D795D-5A87-405F-B11C-631C5ED3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454777-B293-43EA-830E-869AF1FC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DC5F21-C5F0-4CAE-ABBB-ECC05F71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597EC2-FE97-48DA-9CAF-7852AF6C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72FEAD-7A70-4C51-8EE3-CB2A501C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5585F0-844B-4092-8985-DCB26A4D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57822C-243A-4259-BEEA-DE36C6E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AA0E82-AF2F-4282-A797-B2082447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EDCB37-836C-4734-90F1-922FA0BB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B9A96"/>
                </a:solidFill>
              </a:defRPr>
            </a:pPr>
            <a:r>
              <a:rPr sz="900" b="1" i="0">
                <a:solidFill>
                  <a:srgbClr val="9B9A96"/>
                </a:solidFill>
              </a:rPr>
              <a:t>CURRENT FRONTEND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05183C-DDFA-4B7C-A883-E452E5AB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857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0" i="0">
                <a:solidFill>
                  <a:srgbClr val="F5F1E8"/>
                </a:solidFill>
              </a:defRPr>
            </a:pPr>
            <a:r>
              <a:rPr sz="4350" b="0" i="0">
                <a:solidFill>
                  <a:srgbClr val="F5F1E8"/>
                </a:solidFill>
              </a:rPr>
              <a:t>The deck now follows the live main-branch interface.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8E7216-8047-4BF5-936C-45D34DE6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9906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7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BC205B-CAB2-4E77-BE14-0D3CD1C9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24150"/>
            <a:ext cx="3905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0" i="1">
                <a:solidFill>
                  <a:srgbClr val="F5F1E8"/>
                </a:solidFill>
              </a:defRPr>
            </a:pPr>
            <a:r>
              <a:rPr sz="5100" b="0" i="1">
                <a:solidFill>
                  <a:srgbClr val="F5F1E8"/>
                </a:solidFill>
              </a:rPr>
              <a:t>Parallax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AE244E-812B-4527-A873-672691D1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1E8"/>
                </a:solidFill>
              </a:defRPr>
            </a:pPr>
            <a:r>
              <a:rPr sz="1350" b="0" i="0">
                <a:solidFill>
                  <a:srgbClr val="F5F1E8"/>
                </a:solidFill>
              </a:rPr>
              <a:t>Talk to someone standing on the other side of a real question.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CFB499-06E1-4E65-B5FE-CC670753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4448175"/>
            <a:ext cx="175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solidFill>
              <a:srgbClr val="E83D3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7C6583-8B26-4B31-A859-51AB5B21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175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4CBEBB-E52C-46F5-84A2-A94EB4AE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43425"/>
            <a:ext cx="1485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70707"/>
                </a:solidFill>
              </a:defRPr>
            </a:pPr>
            <a:r>
              <a:rPr sz="900" b="1" i="0">
                <a:solidFill>
                  <a:srgbClr val="070707"/>
                </a:solidFill>
              </a:rPr>
              <a:t>BEGIN QUESTIONS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E75D1B-3579-4190-9CAA-494A4E22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00550"/>
            <a:ext cx="1409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A8E2F8-76EE-4732-9C18-5863CD5F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43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5F1E8"/>
                </a:solidFill>
              </a:defRPr>
            </a:pPr>
            <a:r>
              <a:rPr sz="900" b="1" i="0">
                <a:solidFill>
                  <a:srgbClr val="F5F1E8"/>
                </a:solidFill>
              </a:rPr>
              <a:t>OPEN TOPICS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21B985-D925-4A68-887E-3BFA250E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33650"/>
            <a:ext cx="200025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14300">
            <a:solidFill>
              <a:srgbClr val="F5F1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AA5DC1-25B7-41FE-AF72-C231A15E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22479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B85959-01B5-4D62-83A2-6D5F3C07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28950"/>
            <a:ext cx="1981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1E8"/>
                </a:solidFill>
              </a:defRPr>
            </a:pPr>
            <a:r>
              <a:rPr sz="1350" b="1" i="0">
                <a:solidFill>
                  <a:srgbClr val="F5F1E8"/>
                </a:solidFill>
              </a:rPr>
              <a:t>Question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20AF49-47D4-4604-A402-B1A36FF8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1CA18B-A628-440B-A549-E38E11E0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6710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2AC3E9E-5E1B-481F-9F2C-37B61326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956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D217BD-5D2D-434A-972E-7426A7FF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385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8C87F9-0120-432C-9635-71CB7A99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46710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AC394C6-342E-442F-85DF-245DA910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2956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E3E401B-BCD9-4966-9111-9E1D0701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520FAB-83B5-420B-AE05-A593F645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6710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97FF1A-B95C-499C-9EF3-02A2AEB3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956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23C386C-3D99-4A66-A515-625676EB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385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22007B-D218-4A77-91E6-D46BED60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6710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FF521B-C0BC-4EF4-985C-943893C1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1409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262740-69A1-4B09-9F62-118C78A9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243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5F1E8"/>
                </a:solidFill>
              </a:defRPr>
            </a:pPr>
            <a:r>
              <a:rPr sz="1350" b="1" i="0">
                <a:solidFill>
                  <a:srgbClr val="F5F1E8"/>
                </a:solidFill>
              </a:rPr>
              <a:t>Room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AE5AC6-DF5B-4583-A088-AF2C79B8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110ABFB-A753-4A6D-AF95-C36D88AC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03860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CC4B114-8955-444D-9BD5-0E9EFFD7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6715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D86AA2-78AA-4B1D-ADDD-D82DAFCE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100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AFF8FAB-9E9D-46F9-9013-13FE9CE8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038600"/>
            <a:ext cx="95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F55477B-0F71-41C2-8A70-25CDEB6E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867150"/>
            <a:ext cx="9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A622A98-AC40-4053-B5F2-288E2145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C9F9C0A-449C-4883-B3BC-CB0CC3D0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95950"/>
            <a:ext cx="2857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70707"/>
                </a:solidFill>
              </a:defRPr>
            </a:pPr>
            <a:r>
              <a:rPr sz="900" b="1" i="0">
                <a:solidFill>
                  <a:srgbClr val="070707"/>
                </a:solidFill>
              </a:rPr>
              <a:t>ASK BETTER QUESTIONS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E8B9B22-2C76-410A-A41D-2ABBB3B6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695950"/>
            <a:ext cx="2857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70707"/>
                </a:solidFill>
              </a:defRPr>
            </a:pPr>
            <a:r>
              <a:rPr sz="900" b="1" i="0">
                <a:solidFill>
                  <a:srgbClr val="070707"/>
                </a:solidFill>
              </a:rPr>
              <a:t>HOLD THE ROOM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6B438BE-59DF-41EB-A42E-6ACF73A3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695950"/>
            <a:ext cx="2857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70707"/>
                </a:solidFill>
              </a:defRPr>
            </a:pPr>
            <a:r>
              <a:rPr sz="900" b="1" i="0">
                <a:solidFill>
                  <a:srgbClr val="070707"/>
                </a:solidFill>
              </a:rPr>
              <a:t>MEET THE COUNTERVIEW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DE299F2-63D3-4F70-9090-E40E7658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PARALLAX / MAIN 21a3756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2C27C3A-D8E1-41E9-914A-9511A9CE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566257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3030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C1E4B2-B53C-49D1-AC20-0EDBEE8B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11E3D9-ABAA-4CC3-B343-E2357824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DEA8B-499E-4853-8E88-6A3E8F23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CE6AD-F953-4C40-AE9A-EA0C856B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496C3-FFD6-43EE-A012-9A82C76E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95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400C22-ED2A-4242-9E29-55E8D86F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E75060-63CC-4EAF-8350-771B0914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FB560-4894-4FC1-ACFF-3EDD4EFF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91744C-DF0C-4AC0-B242-A95ED955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62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65C7C6-A5FB-4021-A538-051172FB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B6947-F091-4CE5-8A0F-231C8B60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FEC1F4-691C-4993-B814-2521155E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62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F22E6-B77D-4EEC-A8B7-4EAAAA5E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F179A2-EE8B-4D0E-B0D6-E1C4E807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95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4F0C5A-699E-4CF2-AE99-BC270EF5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2B2C74-EFA3-46C1-A10E-3B8869F0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494376-C972-44FC-890D-DCFB9B08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95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C5B59C-F62E-4EB2-A537-EA3F8064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8FDEC1-CA83-49A7-93E1-80436BC1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9F7320-B2C1-4413-9502-24654318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552FD8-2ADB-49FD-A2B3-E231BEDD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A462D8-9706-4E66-9B31-26E7A4EB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177650-1CC8-4F29-9040-5D782B6A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62D192-1928-4421-9C7E-CB21A39D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A3FC2-68D6-4FEA-925E-C2ADAAB0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37E798-A00E-4385-AD49-610D95BE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B9A96"/>
                </a:solidFill>
              </a:defRPr>
            </a:pPr>
            <a:r>
              <a:rPr sz="900" b="1" i="0">
                <a:solidFill>
                  <a:srgbClr val="9B9A96"/>
                </a:solidFill>
              </a:rPr>
              <a:t>PRODUCT FLOW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C55098-645C-45B8-A917-C2760F79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819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0" i="0">
                <a:solidFill>
                  <a:srgbClr val="F5F1E8"/>
                </a:solidFill>
              </a:defRPr>
            </a:pPr>
            <a:r>
              <a:rPr sz="4800" b="0" i="0">
                <a:solidFill>
                  <a:srgbClr val="F5F1E8"/>
                </a:solidFill>
              </a:rPr>
              <a:t>Questions, topics, room.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9CA077-206C-4B9B-8F63-5DB79432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28956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F44B43-6F75-4307-BAAF-0E7D7DD9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104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0" i="1">
                <a:solidFill>
                  <a:srgbClr val="E83D32"/>
                </a:solidFill>
              </a:defRPr>
            </a:pPr>
            <a:r>
              <a:rPr sz="4650" b="0" i="1">
                <a:solidFill>
                  <a:srgbClr val="E83D32"/>
                </a:solidFill>
              </a:rPr>
              <a:t>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F9BC24-752E-428D-98D2-C9E9F965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67100"/>
            <a:ext cx="2362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F5F1E8"/>
                </a:solidFill>
              </a:defRPr>
            </a:pPr>
            <a:r>
              <a:rPr sz="2250" b="0" i="0">
                <a:solidFill>
                  <a:srgbClr val="F5F1E8"/>
                </a:solidFill>
              </a:rPr>
              <a:t>Make a mark on the map.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4B5E2D-C0A5-45AE-85C4-6BB8E952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00550"/>
            <a:ext cx="2343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9B9A96"/>
                </a:solidFill>
              </a:defRPr>
            </a:pPr>
            <a:r>
              <a:rPr sz="1125" b="0" i="0">
                <a:solidFill>
                  <a:srgbClr val="9B9A96"/>
                </a:solidFill>
              </a:rPr>
              <a:t>10 Likert answers produce economic, diplomatic, civil, and social-change scores.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AF4CBE-BF00-4A3D-B716-643FDD95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43150"/>
            <a:ext cx="28956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C07115C-F9DD-4E96-9AEA-F54CBCDB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71750"/>
            <a:ext cx="104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0" i="1">
                <a:solidFill>
                  <a:srgbClr val="E83D32"/>
                </a:solidFill>
              </a:defRPr>
            </a:pPr>
            <a:r>
              <a:rPr sz="4650" b="0" i="1">
                <a:solidFill>
                  <a:srgbClr val="E83D32"/>
                </a:solidFill>
              </a:rPr>
              <a:t>02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D2A2AF-2EB3-496F-A713-256E8CD7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2362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F5F1E8"/>
                </a:solidFill>
              </a:defRPr>
            </a:pPr>
            <a:r>
              <a:rPr sz="2250" b="0" i="0">
                <a:solidFill>
                  <a:srgbClr val="F5F1E8"/>
                </a:solidFill>
              </a:rPr>
              <a:t>Choose the question you can feel.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7EBBC1-1BD5-4379-9938-6BB3F49F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400550"/>
            <a:ext cx="2343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9B9A96"/>
                </a:solidFill>
              </a:defRPr>
            </a:pPr>
            <a:r>
              <a:rPr sz="1125" b="0" i="0">
                <a:solidFill>
                  <a:srgbClr val="9B9A96"/>
                </a:solidFill>
              </a:rPr>
              <a:t>Topics are broad civic tensions with titles, descriptions, and primary axes.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8DC1F8-8278-4D3B-922F-53AE2363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43150"/>
            <a:ext cx="28956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758FE5-6051-4A63-BA00-73AE3C8D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71750"/>
            <a:ext cx="104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0" i="1">
                <a:solidFill>
                  <a:srgbClr val="E83D32"/>
                </a:solidFill>
              </a:defRPr>
            </a:pPr>
            <a:r>
              <a:rPr sz="4650" b="0" i="1">
                <a:solidFill>
                  <a:srgbClr val="E83D32"/>
                </a:solidFill>
              </a:rPr>
              <a:t>03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8D689D-1C5C-4543-A228-314A6DA3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467100"/>
            <a:ext cx="2362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F5F1E8"/>
                </a:solidFill>
              </a:defRPr>
            </a:pPr>
            <a:r>
              <a:rPr sz="2250" b="0" i="0">
                <a:solidFill>
                  <a:srgbClr val="F5F1E8"/>
                </a:solidFill>
              </a:rPr>
              <a:t>Enter with a starter question.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703788-F209-4A2C-BA9B-3BD142C6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2343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9B9A96"/>
                </a:solidFill>
              </a:defRPr>
            </a:pPr>
            <a:r>
              <a:rPr sz="1125" b="0" i="0">
                <a:solidFill>
                  <a:srgbClr val="9B9A96"/>
                </a:solidFill>
              </a:rPr>
              <a:t>The match payload now includes a neutral AI-generated prompt for the room.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300515-9E8C-4E93-BB92-C5460346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PARALLAX / MAIN 21a3756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780C95-EEFB-4BD7-8FC6-F7E49A30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81120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3030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CC0691-432B-4323-86ED-EDF02702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EA529-9F4C-4054-8BE9-68DD8EEF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9BCD8-2EF3-4FE4-9827-61E02DD4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7FC97-1140-4A3C-890B-A2521F4B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57495-E440-44C7-8045-CBF82E5B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95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CC18AF-1DD0-4F7F-9233-70C64AFF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F3DB1A-A920-4481-9B07-28BF3514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A3C0A5-0923-44E0-B46E-4416B518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24A230-948E-446C-90AA-188A1032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62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74E36E-1394-4E41-87F3-4597E944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E9DC6-EA4E-4D3C-952D-F32B6C9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22B7B0-685F-48CB-BBC4-0DC9CA6C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62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ABB35C-C045-4E05-B504-47DFA1C4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AE6FFF-B412-41DD-8D93-BFA73AD4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95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D0FF1-E08D-46D2-9396-7E8C5A9A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F6D9D8-2A3D-4E0F-850B-A531278B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9E1AAD-9AEA-4134-A51F-2194EA03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95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2E35C8-59DC-4EA8-8B33-F89949C1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265B75-44ED-4A59-88C6-E87675DF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22359E-A7D0-4F51-86CB-31FAF533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09D991-0FF0-48EA-B47A-654CABC7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2C6AB-0DD5-4B88-9EA3-C3EEAA33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3FBF80-F7E4-4768-A437-B5CE8D63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7C781A-6317-40D2-AFC4-650D18FE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4A9466-A2FF-4474-B29B-7A36C398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385728-A392-472B-A6F0-66880769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B9A96"/>
                </a:solidFill>
              </a:defRPr>
            </a:pPr>
            <a:r>
              <a:rPr sz="900" b="1" i="0">
                <a:solidFill>
                  <a:srgbClr val="9B9A96"/>
                </a:solidFill>
              </a:rPr>
              <a:t>MATCHING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4A3DC6-DFAE-4658-9E49-7CD71E4A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9144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0" i="0">
                <a:solidFill>
                  <a:srgbClr val="F5F1E8"/>
                </a:solidFill>
              </a:defRPr>
            </a:pPr>
            <a:r>
              <a:rPr sz="4350" b="0" i="0">
                <a:solidFill>
                  <a:srgbClr val="F5F1E8"/>
                </a:solidFill>
              </a:rPr>
              <a:t>Opposition is computed, then softened into a question.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282D47-82AB-4EE5-AA4F-4033CEA8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742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5F1E8"/>
                </a:solidFill>
              </a:defRPr>
            </a:pPr>
            <a:r>
              <a:rPr sz="1500" b="0" i="0">
                <a:solidFill>
                  <a:srgbClr val="F5F1E8"/>
                </a:solidFill>
              </a:rPr>
              <a:t>The queue finds a same-topic partner with maximum distance on the topic's primary axis, then generates one respectful starter question from both profiles.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1946C3-652F-4AF9-8490-94AECFD9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9D7C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690EEE-06CF-4468-AE8B-1DBDDED2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95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solidFill>
              <a:srgbClr val="E83D3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A45ACF-F8C4-4AD7-BC6C-6C34D703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95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F0D0"/>
          </a:solidFill>
          <a:ln xmlns:a="http://schemas.openxmlformats.org/drawingml/2006/main" w="0">
            <a:solidFill>
              <a:srgbClr val="9EF0D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B1119C-7A05-491C-8F91-A4C8ADE7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0047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5F1E8"/>
                </a:solidFill>
              </a:defRPr>
            </a:pPr>
            <a:r>
              <a:rPr sz="1125" b="1" i="0">
                <a:solidFill>
                  <a:srgbClr val="F5F1E8"/>
                </a:solidFill>
              </a:rPr>
              <a:t>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D3CB03-E5D6-4685-8E8B-B52DB737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00475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070707"/>
                </a:solidFill>
              </a:defRPr>
            </a:pPr>
            <a:r>
              <a:rPr sz="1125" b="1" i="0">
                <a:solidFill>
                  <a:srgbClr val="070707"/>
                </a:solidFill>
              </a:rPr>
              <a:t>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F62339-4D54-441A-9CC2-F8364268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481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B9A96"/>
                </a:solidFill>
              </a:defRPr>
            </a:pPr>
            <a:r>
              <a:rPr sz="1050" b="0" i="0">
                <a:solidFill>
                  <a:srgbClr val="9B9A96"/>
                </a:solidFill>
              </a:rPr>
              <a:t>Markets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D51230-5319-4D3A-97C5-AF66DBE9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481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9B9A96"/>
                </a:solidFill>
              </a:defRPr>
            </a:pPr>
            <a:r>
              <a:rPr sz="1050" b="0" i="0">
                <a:solidFill>
                  <a:srgbClr val="9B9A96"/>
                </a:solidFill>
              </a:rPr>
              <a:t>Equality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DF075A-1780-4646-B2BE-1A968DE8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19450"/>
            <a:ext cx="3676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AFFFE9-EC9B-4F2A-8E87-963CD619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337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5F1E8"/>
                </a:solidFill>
              </a:defRPr>
            </a:pPr>
            <a:r>
              <a:rPr sz="1050" b="1" i="0">
                <a:solidFill>
                  <a:srgbClr val="F5F1E8"/>
                </a:solidFill>
              </a:rPr>
              <a:t>Primary axis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0E6467-0ED7-40CF-97A4-C264A284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33750"/>
            <a:ext cx="1752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B9A96"/>
                </a:solidFill>
              </a:defRPr>
            </a:pPr>
            <a:r>
              <a:rPr sz="975" b="0" i="0">
                <a:solidFill>
                  <a:srgbClr val="9B9A96"/>
                </a:solidFill>
              </a:rPr>
              <a:t>topic.primaryAxis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0DA439-0B22-43A3-8F99-79F867E2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71900"/>
            <a:ext cx="3676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256C7D-D64E-4DB0-93BB-D4F1652C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862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5F1E8"/>
                </a:solidFill>
              </a:defRPr>
            </a:pPr>
            <a:r>
              <a:rPr sz="1050" b="1" i="0">
                <a:solidFill>
                  <a:srgbClr val="F5F1E8"/>
                </a:solidFill>
              </a:rPr>
              <a:t>Opposite score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FE5181-DC8E-4023-9B7D-A4873C97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86200"/>
            <a:ext cx="1752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B9A96"/>
                </a:solidFill>
              </a:defRPr>
            </a:pPr>
            <a:r>
              <a:rPr sz="975" b="0" i="0">
                <a:solidFill>
                  <a:srgbClr val="9B9A96"/>
                </a:solidFill>
              </a:rPr>
              <a:t>axis distance + sign bonus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50A78E-5FC1-46C5-AF8A-937038FB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24350"/>
            <a:ext cx="3676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A64E7A-E502-4FC8-9116-0D180D94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386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5F1E8"/>
                </a:solidFill>
              </a:defRPr>
            </a:pPr>
            <a:r>
              <a:rPr sz="1050" b="1" i="0">
                <a:solidFill>
                  <a:srgbClr val="F5F1E8"/>
                </a:solidFill>
              </a:rPr>
              <a:t>Fallback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495A38-5813-4B97-B38A-0B77C94E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38650"/>
            <a:ext cx="1752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B9A96"/>
                </a:solidFill>
              </a:defRPr>
            </a:pPr>
            <a:r>
              <a:rPr sz="975" b="0" i="0">
                <a:solidFill>
                  <a:srgbClr val="9B9A96"/>
                </a:solidFill>
              </a:rPr>
              <a:t>relax after 30 seconds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941FFC7-AFD6-4140-B99F-738C5D85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76800"/>
            <a:ext cx="3676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C50FE6-2EE9-4EFD-BD75-EB52ED8D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991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5F1E8"/>
                </a:solidFill>
              </a:defRPr>
            </a:pPr>
            <a:r>
              <a:rPr sz="1050" b="1" i="0">
                <a:solidFill>
                  <a:srgbClr val="F5F1E8"/>
                </a:solidFill>
              </a:rPr>
              <a:t>Starter prompt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574A6A-A7EB-457A-996B-CC92A259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91100"/>
            <a:ext cx="1752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B9A96"/>
                </a:solidFill>
              </a:defRPr>
            </a:pPr>
            <a:r>
              <a:rPr sz="975" b="0" i="0">
                <a:solidFill>
                  <a:srgbClr val="9B9A96"/>
                </a:solidFill>
              </a:rPr>
              <a:t>GPT-4o-mini or fallback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1D9308-7ABA-419F-9AD3-16B9D8E8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PARALLAX / MAIN 21a3756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E34274-9337-4345-A972-33E03157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654110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3030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050B64-C5EE-4144-A30B-183C5203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9AB67-368D-4F06-B6F3-3993924B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C1F29-DB87-4530-B4A1-CC5A549C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2BE78-80A2-4F97-BA9C-5408074D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6312C9-890D-4CFE-822A-1E2E3478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95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2A3FE2-3741-4379-AF36-BFF8D255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FDAFB-67E8-4D15-A43F-FE5A2A3B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653DA-8A76-43E2-8DFD-05A8BA44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612C1B-BD0A-4BBF-9E78-22FAB960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62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D168F-5FFF-43D6-9BB4-692EEA70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A2921-C0C5-4071-A52A-C5231790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DA6750-8D4F-41BC-BC0B-912B543D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62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C57936-867C-4944-8D77-6B5049F6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A4CAB9-3BF8-4437-84F2-7FA43DDB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95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8410BE-42DD-4145-8C07-58226FA6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4B344-2ACF-4BEC-BDA8-4771DFC2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BD9319-E395-486E-B2AA-915B9CED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95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607ECA-07C6-4B93-AA58-620F7D75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710637-8E2C-42D7-8C6E-F607D947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526313-7786-472B-AAA7-15A4935E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93EC21-0853-44F0-8898-CCE4FC97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A52E14-EAB0-4E2E-89B7-9BC60947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9BA66E-EF39-4AA5-8125-AB107C08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499400-90ED-4852-8DEC-9B0D1A99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DE98CA-781A-47C8-96CF-76E7B732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3BABCE-611F-484E-8465-D8F10FBD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B9A96"/>
                </a:solidFill>
              </a:defRPr>
            </a:pPr>
            <a:r>
              <a:rPr sz="900" b="1" i="0">
                <a:solidFill>
                  <a:srgbClr val="9B9A96"/>
                </a:solidFill>
              </a:rPr>
              <a:t>TRUST LAYER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7E7C6B-30B8-4CF8-94C7-7D82C3E0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F5F1E8"/>
                </a:solidFill>
              </a:defRPr>
            </a:pPr>
            <a:r>
              <a:rPr sz="4500" b="0" i="0">
                <a:solidFill>
                  <a:srgbClr val="F5F1E8"/>
                </a:solidFill>
              </a:rPr>
              <a:t>Moderation and context sit inside the room.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A19D45-FF9D-4B88-8FDB-26AEDD15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4267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87BA51-E534-4B03-91DA-91013E28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00350"/>
            <a:ext cx="114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4808D9-9CAF-443C-836F-49C9AB11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813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F5F1E8"/>
                </a:solidFill>
              </a:defRPr>
            </a:pPr>
            <a:r>
              <a:rPr sz="2100" b="0" i="0">
                <a:solidFill>
                  <a:srgbClr val="F5F1E8"/>
                </a:solidFill>
              </a:rPr>
              <a:t>Text moderation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E09A45-7576-46E4-9640-3F331D82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00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9B9A96"/>
                </a:solidFill>
              </a:defRPr>
            </a:pPr>
            <a:r>
              <a:rPr sz="1125" b="0" i="0">
                <a:solidFill>
                  <a:srgbClr val="9B9A96"/>
                </a:solidFill>
              </a:rPr>
              <a:t>Blocklist + OpenAI moderation before display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C96F2D-CA3A-4388-ADB4-D49BBF3C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571750"/>
            <a:ext cx="4267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1B0307-2F06-4ED0-A392-97F5FB47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00350"/>
            <a:ext cx="114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9525">
            <a:solidFill>
              <a:srgbClr val="E83D3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0306ED-D833-4D8E-8A00-D760468E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813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F5F1E8"/>
                </a:solidFill>
              </a:defRPr>
            </a:pPr>
            <a:r>
              <a:rPr sz="2100" b="0" i="0">
                <a:solidFill>
                  <a:srgbClr val="F5F1E8"/>
                </a:solidFill>
              </a:rPr>
              <a:t>Frame sampling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601F6A-4CAC-47D6-8761-E4465510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0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9B9A96"/>
                </a:solidFill>
              </a:defRPr>
            </a:pPr>
            <a:r>
              <a:rPr sz="1125" b="0" i="0">
                <a:solidFill>
                  <a:srgbClr val="9B9A96"/>
                </a:solidFill>
              </a:rPr>
              <a:t>Vision check on sampled local video frames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739233-B0B0-4ED1-ADF6-A4630BCE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4267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BD3A7A-F7F9-4625-984D-4D5944AE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29100"/>
            <a:ext cx="114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65C1B0-37D8-40FF-87D2-BFE10EF0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100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F5F1E8"/>
                </a:solidFill>
              </a:defRPr>
            </a:pPr>
            <a:r>
              <a:rPr sz="2100" b="0" i="0">
                <a:solidFill>
                  <a:srgbClr val="F5F1E8"/>
                </a:solidFill>
              </a:rPr>
              <a:t>Fact context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35BCEE-AACB-4078-BDD1-BACFB82D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9B9A96"/>
                </a:solidFill>
              </a:defRPr>
            </a:pPr>
            <a:r>
              <a:rPr sz="1125" b="0" i="0">
                <a:solidFill>
                  <a:srgbClr val="9B9A96"/>
                </a:solidFill>
              </a:rPr>
              <a:t>Claim extraction + Exa retrieval + cited card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5EE8A7-DDDB-4A66-A801-97C8DD14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00500"/>
            <a:ext cx="4267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D243AE-7DCF-4438-A901-9C8994E4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29100"/>
            <a:ext cx="114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7E24E2-5A8C-48A6-9171-D1688FFA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00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F5F1E8"/>
                </a:solidFill>
              </a:defRPr>
            </a:pPr>
            <a:r>
              <a:rPr sz="2100" b="0" i="0">
                <a:solidFill>
                  <a:srgbClr val="F5F1E8"/>
                </a:solidFill>
              </a:rPr>
              <a:t>Exit controls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565423-FC9E-4552-B66C-F12C0785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291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9B9A96"/>
                </a:solidFill>
              </a:defRPr>
            </a:pPr>
            <a:r>
              <a:rPr sz="1125" b="0" i="0">
                <a:solidFill>
                  <a:srgbClr val="9B9A96"/>
                </a:solidFill>
              </a:rPr>
              <a:t>Skip, report, feedback, and session end reasons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4883665-1B96-437B-8CDE-8E2EEFE1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PARALLAX / MAIN 21a3756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8D4F0BB-E131-4359-A4C2-6A61A42F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22196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3030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499C83-1BF3-463A-A6AB-5C01FA6B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7EC219-D747-40B5-930D-D31F7124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9BA13-5491-47A8-9F47-864CF3EC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49031B-DA78-4909-9C5F-3ECE9BEC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D38DD-4958-4F4D-A2FE-6EBA6F4B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95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E7F61C-6867-4DB0-9A9C-BEB34A91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07D8BB-1C8A-48D2-939A-0EC4E494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82486-DF2A-44F6-BC78-A0C4BF9C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05FFA2-BADA-40B2-80AE-CF81A19F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62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E6A22C-917A-4295-998B-E040F9F3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993746-D063-41A6-93B5-9232AE64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B807B-5956-47D5-AA3A-318EEA5D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62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197A1E-B3DB-4A0B-83E3-12D84F57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883B4-D80D-4944-9626-CE13EC83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95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B5A3AA-C4E6-4460-8B37-6E2B2920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B0267A-1792-4CB9-8C60-FC3DD0C9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638F21-41B6-4CBE-96C2-24488395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95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1377E1-51B5-45C7-A690-5FDE3017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4117B5-5F42-4CC5-9B62-D5894DFC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B68B35-2C45-45FA-9AF1-7F786D23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EC6812-47CA-4851-8006-A185233D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1DAF28-9396-439F-B018-9068D18D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F9683-FF03-449E-A4BD-4C1F1256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6F6E4A-1147-4370-941F-52C1216D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F8425D-3E37-4409-BDD4-1EE9C9F3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BB379D-186C-47FB-8548-34BB7AB1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B9A96"/>
                </a:solidFill>
              </a:defRPr>
            </a:pPr>
            <a:r>
              <a:rPr sz="900" b="1" i="0">
                <a:solidFill>
                  <a:srgbClr val="9B9A96"/>
                </a:solidFill>
              </a:rPr>
              <a:t>ARCHITECTURE AND DEPLOYMENT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4698A2-2954-4713-8B0D-11EE02C6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8953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F5F1E8"/>
                </a:solidFill>
              </a:defRPr>
            </a:pPr>
            <a:r>
              <a:rPr sz="4500" b="0" i="0">
                <a:solidFill>
                  <a:srgbClr val="F5F1E8"/>
                </a:solidFill>
              </a:rPr>
              <a:t>A hackathon stack with production paths.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21DAB0-CBEE-477B-9358-40798E72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28765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733CD2-6183-4E60-BDBF-8591A23D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0" i="0">
                <a:solidFill>
                  <a:srgbClr val="F5F1E8"/>
                </a:solidFill>
              </a:defRPr>
            </a:pPr>
            <a:r>
              <a:rPr sz="2700" b="0" i="0">
                <a:solidFill>
                  <a:srgbClr val="F5F1E8"/>
                </a:solidFill>
              </a:rPr>
              <a:t>Web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900157-CF16-4D59-AF37-DC38B40B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22669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Vite + React 19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Tailwind CSS v4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LiveKit components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Interactive canvas stage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Vercel build config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5D0E9E-ED9F-41E4-94A9-0895560E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43150"/>
            <a:ext cx="28765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293C7B-C8FF-48CC-A370-711FA367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289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0" i="0">
                <a:solidFill>
                  <a:srgbClr val="F5F1E8"/>
                </a:solidFill>
              </a:defRPr>
            </a:pPr>
            <a:r>
              <a:rPr sz="2700" b="0" i="0">
                <a:solidFill>
                  <a:srgbClr val="F5F1E8"/>
                </a:solidFill>
              </a:rPr>
              <a:t>API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D3F240-ABD5-4C4E-BA9E-9EB18E4E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57550"/>
            <a:ext cx="22669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Fastify + WebSocket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SQLite session log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Redis queue and bans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Render service config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/health endpoint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794E14-921E-4E06-ACE3-14F9D095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43150"/>
            <a:ext cx="28765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41D19B-2678-43C3-8566-3053971E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289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0" i="0">
                <a:solidFill>
                  <a:srgbClr val="F5F1E8"/>
                </a:solidFill>
              </a:defRPr>
            </a:pPr>
            <a:r>
              <a:rPr sz="2700" b="0" i="0">
                <a:solidFill>
                  <a:srgbClr val="F5F1E8"/>
                </a:solidFill>
              </a:rPr>
              <a:t>AI + realtime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1FE1C7-520D-4588-BA5E-BD281323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57550"/>
            <a:ext cx="22669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OpenAI moderation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GPT-4o-mini starter prompts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Exa fact grounding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LiveKit rooms</a:t>
            </a:r>
          </a:p>
          <a:p xmlns:a="http://schemas.openxmlformats.org/drawingml/2006/main">
            <a:pPr algn="l">
              <a:defRPr sz="1275" b="0" i="0">
                <a:solidFill>
                  <a:srgbClr val="F5F1E8"/>
                </a:solidFill>
              </a:defRPr>
            </a:pPr>
            <a:r>
              <a:rPr sz="1275" b="0" i="0">
                <a:solidFill>
                  <a:srgbClr val="F5F1E8"/>
                </a:solidFill>
              </a:rPr>
              <a:t>Demo fallback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5309E4-5279-4A10-86D6-8CA66FD1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PARALLAX / MAIN 21a3756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75E451-554A-401C-82F1-5DB647F4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311407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3030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07FBBE-A0E6-44F2-AF9E-4002D8A2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B141D-7A12-4EFF-9DF2-4455FD14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75BAE-698B-42B2-9994-C6B51F15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10E573-1529-4F2B-B6EF-04E5D8D4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9292A-62E6-4E85-A1E7-1B782B60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95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F2193-8861-42B7-97AC-4BBBFB03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7394CC-7F4F-4A06-9D89-A17A106E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261B6-DD6B-4A20-93BA-1F7CFEB6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4C913A-3E55-46B7-A399-C078B921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62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50D37D-0195-4248-B163-FBB3BA9D8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5438F7-30F9-41DA-AA3C-4C5D3768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CDF4C8-085B-4D3D-8ECD-AF8A0C6C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62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BC6A4C-2D35-4DAB-A93A-E16EA881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C6DBA3-1961-4966-80F7-E53EF8C8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95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764C5F-074F-424E-BD11-F6157330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595E43-8E95-471E-8E41-B384CDCC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16ED48-37B2-4781-AE8D-53564DF2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95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09AE17-9ECE-4533-B4F8-634179C4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EF4EA-AF0A-4F39-A7D6-B1B0977D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D1B11B-573C-4410-B5D3-3BE6173E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9AA847-D35F-46B0-BB67-7F7DF51C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1C151F-B1DC-4804-BD1B-9133399F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CFBA94-0599-48EB-A7D5-64BC48BC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5A21BD-D92B-4CAA-A517-D591A026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3CD8B5-44FC-4A8A-859B-750D7B3D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7DE471-0234-45C5-A812-D4D4A753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B9A96"/>
                </a:solidFill>
              </a:defRPr>
            </a:pPr>
            <a:r>
              <a:rPr sz="900" b="1" i="0">
                <a:solidFill>
                  <a:srgbClr val="9B9A96"/>
                </a:solidFill>
              </a:rPr>
              <a:t>DEMO READINESS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0BDC32-C18D-4395-8790-743670D0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742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0" i="0">
                <a:solidFill>
                  <a:srgbClr val="F5F1E8"/>
                </a:solidFill>
              </a:defRPr>
            </a:pPr>
            <a:r>
              <a:rPr sz="4800" b="0" i="0">
                <a:solidFill>
                  <a:srgbClr val="F5F1E8"/>
                </a:solidFill>
              </a:rPr>
              <a:t>What main can show now.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9A9223-0D23-4FC7-BD3F-58BD1BAB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F0D0"/>
          </a:solidFill>
          <a:ln xmlns:a="http://schemas.openxmlformats.org/drawingml/2006/main" w="0">
            <a:solidFill>
              <a:srgbClr val="9EF0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443C1A-1DC1-4DBC-B394-F9E02144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070707"/>
                </a:solidFill>
              </a:defRPr>
            </a:pPr>
            <a:r>
              <a:rPr sz="1050" b="1" i="0">
                <a:solidFill>
                  <a:srgbClr val="070707"/>
                </a:solidFill>
              </a:rPr>
              <a:t>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8744AE-6044-42F1-AAFF-B4688393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1E8"/>
                </a:solidFill>
              </a:defRPr>
            </a:pPr>
            <a:r>
              <a:rPr sz="1350" b="0" i="0">
                <a:solidFill>
                  <a:srgbClr val="F5F1E8"/>
                </a:solidFill>
              </a:rPr>
              <a:t>Current branded frontend with hero, ticker, survey, topics, queue, and room views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9D6E94-0579-446E-AA0B-7D72A62C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F0D0"/>
          </a:solidFill>
          <a:ln xmlns:a="http://schemas.openxmlformats.org/drawingml/2006/main" w="0">
            <a:solidFill>
              <a:srgbClr val="9EF0D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A4CD3E-04FB-4890-BFB4-1D729158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070707"/>
                </a:solidFill>
              </a:defRPr>
            </a:pPr>
            <a:r>
              <a:rPr sz="1050" b="1" i="0">
                <a:solidFill>
                  <a:srgbClr val="070707"/>
                </a:solidFill>
              </a:rPr>
              <a:t>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FF473D-9957-4879-8EAB-0122620D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1E8"/>
                </a:solidFill>
              </a:defRPr>
            </a:pPr>
            <a:r>
              <a:rPr sz="1350" b="0" i="0">
                <a:solidFill>
                  <a:srgbClr val="F5F1E8"/>
                </a:solidFill>
              </a:rPr>
              <a:t>Survey scoring and topic-axis matching in shared/API code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372A47-3A19-4667-8BF2-B094D364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004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F0D0"/>
          </a:solidFill>
          <a:ln xmlns:a="http://schemas.openxmlformats.org/drawingml/2006/main" w="0">
            <a:solidFill>
              <a:srgbClr val="9EF0D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42E7F0-5F79-4CFF-959E-5FB3423F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070707"/>
                </a:solidFill>
              </a:defRPr>
            </a:pPr>
            <a:r>
              <a:rPr sz="1050" b="1" i="0">
                <a:solidFill>
                  <a:srgbClr val="070707"/>
                </a:solidFill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47EC5C-9D33-4946-AE37-C55868F3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623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1E8"/>
                </a:solidFill>
              </a:defRPr>
            </a:pPr>
            <a:r>
              <a:rPr sz="1350" b="0" i="0">
                <a:solidFill>
                  <a:srgbClr val="F5F1E8"/>
                </a:solidFill>
              </a:rPr>
              <a:t>Starter questions attached to match payloads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80AC57-D1F1-4E7D-B810-7575E3EA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F0D0"/>
          </a:solidFill>
          <a:ln xmlns:a="http://schemas.openxmlformats.org/drawingml/2006/main" w="0">
            <a:solidFill>
              <a:srgbClr val="9EF0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E1FFA9-E20D-492B-BC44-949A5AF7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95700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070707"/>
                </a:solidFill>
              </a:defRPr>
            </a:pPr>
            <a:r>
              <a:rPr sz="1050" b="1" i="0">
                <a:solidFill>
                  <a:srgbClr val="070707"/>
                </a:solidFill>
              </a:rPr>
              <a:t>✓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F550BA-C144-4F0B-89EB-416CECB6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1E8"/>
                </a:solidFill>
              </a:defRPr>
            </a:pPr>
            <a:r>
              <a:rPr sz="1350" b="0" i="0">
                <a:solidFill>
                  <a:srgbClr val="F5F1E8"/>
                </a:solidFill>
              </a:rPr>
              <a:t>Text moderation, sampled video moderation, and Exa context cards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1DF82B-36B4-4D52-8DAE-26C2B340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291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F0D0"/>
          </a:solidFill>
          <a:ln xmlns:a="http://schemas.openxmlformats.org/drawingml/2006/main" w="0">
            <a:solidFill>
              <a:srgbClr val="9EF0D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E7A90B-C0D9-455E-9E1C-D78B9609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070707"/>
                </a:solidFill>
              </a:defRPr>
            </a:pPr>
            <a:r>
              <a:rPr sz="1050" b="1" i="0">
                <a:solidFill>
                  <a:srgbClr val="070707"/>
                </a:solidFill>
              </a:rPr>
              <a:t>✓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41E81E-B7D3-4334-80D0-DFA33BBD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91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1E8"/>
                </a:solidFill>
              </a:defRPr>
            </a:pPr>
            <a:r>
              <a:rPr sz="1350" b="0" i="0">
                <a:solidFill>
                  <a:srgbClr val="F5F1E8"/>
                </a:solidFill>
              </a:rPr>
              <a:t>Vercel web and Render API deployment configuration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BA9621-AB86-46F7-BB4F-9D34F1BA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F0D0"/>
          </a:solidFill>
          <a:ln xmlns:a="http://schemas.openxmlformats.org/drawingml/2006/main" w="0">
            <a:solidFill>
              <a:srgbClr val="9EF0D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F2F581-E54F-42B7-844A-9EB9C2BD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24400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070707"/>
                </a:solidFill>
              </a:defRPr>
            </a:pPr>
            <a:r>
              <a:rPr sz="1050" b="1" i="0">
                <a:solidFill>
                  <a:srgbClr val="070707"/>
                </a:solidFill>
              </a:rPr>
              <a:t>✓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050367-4202-4B27-A82D-DA402886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5F1E8"/>
                </a:solidFill>
              </a:defRPr>
            </a:pPr>
            <a:r>
              <a:rPr sz="1350" b="0" i="0">
                <a:solidFill>
                  <a:srgbClr val="F5F1E8"/>
                </a:solidFill>
              </a:rPr>
              <a:t>Demo mode for matching and chat without LiveKit credentials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64D121-C907-424B-8BA9-E0A735BA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9144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9525">
            <a:solidFill>
              <a:srgbClr val="E83D3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2102D10-3881-4103-9767-9A33B9E8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057275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5F1E8"/>
                </a:solidFill>
              </a:defRPr>
            </a:pPr>
            <a:r>
              <a:rPr sz="900" b="1" i="0">
                <a:solidFill>
                  <a:srgbClr val="F5F1E8"/>
                </a:solidFill>
              </a:rPr>
              <a:t>LIVE DEMO PATH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87F17B-05F3-4BAB-8B75-298C0E18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PARALLAX / MAIN 21a3756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BBFBC43-18CD-4DC9-9A6F-405FAD1B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181125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3030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D173AD-60CC-4F47-ADE0-78630C56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B952C-DCD6-47EF-9EC9-D91689A5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5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07BD5B-235C-4325-96E0-1304AECA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8EB1BC-4A7F-4EA0-9631-BB16BD43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28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299C4-EB8A-418C-B811-FF063F82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95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2AA88F-8C9F-43BB-BE3A-9B88DE49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5D6D0-197F-44A5-A8C7-5F14546D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28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A7854E-2E66-4727-BB97-1526461C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5953C-73FD-4C08-BEFC-C75F9B86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62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126761-504E-46B0-8A73-CBDBA151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28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7B57B-E8E1-4B0E-B3CB-1522C99C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B35E09-33D8-45B1-A9BE-2E20B9DA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62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4376B-4475-40A8-8D01-EAC6EB7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D5419-C9A4-4DB6-B9E0-0D9CBD3D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695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FAC5D0-B5C3-4BE1-A092-5C32677F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62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E9A810-3247-4D16-81C3-CE49E236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291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320703-DF3F-458B-A6AA-0C8A2CB5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958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143346-97FD-4391-BFA3-2A2093E4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625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BFFAF-28CC-49DD-96A5-9BFC9185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BFD74-2108-40F0-9BB1-2A094E75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4B0DB7-55E0-413A-AD66-2E8B56AC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5626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270FB5-1EF7-42C5-9395-904C84A3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9DC777-2F57-4CA0-8D1C-A519C41C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03C66A-8A8D-41D4-9A08-04EB0845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DF4B1D-1EC2-495F-BEA2-38F4B3FB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ED1AD7-4684-4ED8-A326-CE53458B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B9A96"/>
                </a:solidFill>
              </a:defRPr>
            </a:pPr>
            <a:r>
              <a:rPr sz="900" b="1" i="0">
                <a:solidFill>
                  <a:srgbClr val="9B9A96"/>
                </a:solidFill>
              </a:rPr>
              <a:t>ASK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485844-B4B8-4433-94EF-522ACBFD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700" b="0" i="1">
                <a:solidFill>
                  <a:srgbClr val="F5F1E8"/>
                </a:solidFill>
              </a:defRPr>
            </a:pPr>
            <a:r>
              <a:rPr sz="5700" b="0" i="1">
                <a:solidFill>
                  <a:srgbClr val="F5F1E8"/>
                </a:solidFill>
              </a:rPr>
              <a:t>Fund the room, not the feed.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0C3034-5F7E-46DF-B6A7-DA5DAA2A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723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5F1E8"/>
                </a:solidFill>
              </a:defRPr>
            </a:pPr>
            <a:r>
              <a:rPr sz="1650" b="0" i="0">
                <a:solidFill>
                  <a:srgbClr val="F5F1E8"/>
                </a:solidFill>
              </a:rPr>
              <a:t>Parallax is now a branded, deployable prototype: a strong hackathon demo with a concrete product loop and enough architecture to become a real experiment.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B95816-9B0D-447C-9ED1-675E651F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2857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1B1181-6F3E-4D77-9CDC-42EE9D86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14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F5F1E8"/>
                </a:solidFill>
              </a:defRPr>
            </a:pPr>
            <a:r>
              <a:rPr sz="2400" b="0" i="0">
                <a:solidFill>
                  <a:srgbClr val="F5F1E8"/>
                </a:solidFill>
              </a:rPr>
              <a:t>Validate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C4B068-5A4A-405F-82F7-CA25608F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B9A96"/>
                </a:solidFill>
              </a:defRPr>
            </a:pPr>
            <a:r>
              <a:rPr sz="1050" b="0" i="0">
                <a:solidFill>
                  <a:srgbClr val="9B9A96"/>
                </a:solidFill>
              </a:rPr>
              <a:t>Does opposite matching produce better conversations than shared-interest matching?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5E4B30-948A-487F-8D2D-1FBE9614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867150"/>
            <a:ext cx="2857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50071D-D749-46E0-BA7F-D25A7E30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114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F5F1E8"/>
                </a:solidFill>
              </a:defRPr>
            </a:pPr>
            <a:r>
              <a:rPr sz="2400" b="0" i="0">
                <a:solidFill>
                  <a:srgbClr val="F5F1E8"/>
                </a:solidFill>
              </a:rPr>
              <a:t>Instrument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4E9912-489B-451F-A6FC-64F62939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9105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B9A96"/>
                </a:solidFill>
              </a:defRPr>
            </a:pPr>
            <a:r>
              <a:rPr sz="1050" b="0" i="0">
                <a:solidFill>
                  <a:srgbClr val="9B9A96"/>
                </a:solidFill>
              </a:rPr>
              <a:t>Capture post-room feedback and whether people understood the other side.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9B9C9E-5136-4BB0-A3C2-9DF9FB5D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867150"/>
            <a:ext cx="2857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B1E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670099-691E-4FBA-912B-3FEBB24D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114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F5F1E8"/>
                </a:solidFill>
              </a:defRPr>
            </a:pPr>
            <a:r>
              <a:rPr sz="2400" b="0" i="0">
                <a:solidFill>
                  <a:srgbClr val="F5F1E8"/>
                </a:solidFill>
              </a:rPr>
              <a:t>Extend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DD5ADA-4F53-4CC4-A85C-A9D37F789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9105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B9A96"/>
                </a:solidFill>
              </a:defRPr>
            </a:pPr>
            <a:r>
              <a:rPr sz="1050" b="0" i="0">
                <a:solidFill>
                  <a:srgbClr val="9B9A96"/>
                </a:solidFill>
              </a:rPr>
              <a:t>Add transcript capture, topic briefs, and post-session digests.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F09D4E-B20E-41C3-AE95-63A76E4D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6102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3D32"/>
          </a:solidFill>
          <a:ln xmlns:a="http://schemas.openxmlformats.org/drawingml/2006/main" w="0">
            <a:solidFill>
              <a:srgbClr val="E83D3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265B6-7A61-4255-8C91-4817B26D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D9D7C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469FDA-9D72-498E-9FE1-1673EEC8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475"/>
            <a:ext cx="154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70707"/>
                </a:solidFill>
              </a:defRPr>
            </a:pPr>
            <a:r>
              <a:rPr sz="900" b="1" i="0">
                <a:solidFill>
                  <a:srgbClr val="070707"/>
                </a:solidFill>
              </a:rPr>
              <a:t>BEGIN QUESTIONS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0A8F90-9EDA-4A79-8FD4-245B9EDC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PARALLAX / MAIN 21a3756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B9240A-46CC-4841-99ED-4B4C4CE6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055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B9A96"/>
                </a:solidFill>
              </a:defRPr>
            </a:pPr>
            <a:r>
              <a:rPr sz="750" b="1" i="0">
                <a:solidFill>
                  <a:srgbClr val="9B9A96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859416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2026-06-27T07:59:25.5540000Z</dcterms:created>
  <dcterms:modified xsi:type="dcterms:W3CDTF">2026-06-27T07:59:25.5540000Z</dcterms:modified>
</coreProperties>
</file>
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5446505b814dea" /><Relationship Type="http://schemas.openxmlformats.org/officeDocument/2006/relationships/extended-properties" Target="/docProps/app.xml" Id="R82e55a32f39c41f8" /><Relationship Type="http://schemas.openxmlformats.org/officeDocument/2006/relationships/officeDocument" Target="/ppt/presentation.xml" Id="R1a31f732fc1d4a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c22bcdca9e49c0"/>
  </p:sldMasterIdLst>
  <p:notesMasterIdLst>
    <p:notesMasterId xmlns:r="http://schemas.openxmlformats.org/officeDocument/2006/relationships" r:id="R0da35ad9b0bc445e"/>
  </p:notesMasterIdLst>
  <p:sldIdLst>
    <p:sldId xmlns:r="http://schemas.openxmlformats.org/officeDocument/2006/relationships" id="256" r:id="Rcc8497b6a5d145a7"/>
    <p:sldId xmlns:r="http://schemas.openxmlformats.org/officeDocument/2006/relationships" id="257" r:id="R4a8e916b34304ed1"/>
    <p:sldId xmlns:r="http://schemas.openxmlformats.org/officeDocument/2006/relationships" id="258" r:id="Ra5d47ebe765c4a15"/>
    <p:sldId xmlns:r="http://schemas.openxmlformats.org/officeDocument/2006/relationships" id="259" r:id="Rb281bb5cb5854297"/>
    <p:sldId xmlns:r="http://schemas.openxmlformats.org/officeDocument/2006/relationships" id="260" r:id="R5f5f653f8b7242c9"/>
    <p:sldId xmlns:r="http://schemas.openxmlformats.org/officeDocument/2006/relationships" id="261" r:id="Rcded006246694803"/>
    <p:sldId xmlns:r="http://schemas.openxmlformats.org/officeDocument/2006/relationships" id="262" r:id="R2aba961008234f64"/>
    <p:sldId xmlns:r="http://schemas.openxmlformats.org/officeDocument/2006/relationships" id="263" r:id="R5fa7e44a82224633"/>
    <p:sldId xmlns:r="http://schemas.openxmlformats.org/officeDocument/2006/relationships" id="264" r:id="Rb839671c73974596"/>
    <p:sldId xmlns:r="http://schemas.openxmlformats.org/officeDocument/2006/relationships" id="265" r:id="R2ef24953a7a6405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303927d8964bbb" /><Relationship Type="http://schemas.openxmlformats.org/officeDocument/2006/relationships/slideMaster" Target="/ppt/slideMasters/slideMaster1.xml" Id="R9ec22bcdca9e49c0" /><Relationship Type="http://schemas.openxmlformats.org/officeDocument/2006/relationships/notesMaster" Target="/ppt/notesMasters/notesMaster1.xml" Id="R0da35ad9b0bc445e" /><Relationship Type="http://schemas.openxmlformats.org/officeDocument/2006/relationships/presProps" Target="/ppt/presProps.xml" Id="R05fe228597024018" /><Relationship Type="http://schemas.openxmlformats.org/officeDocument/2006/relationships/tableStyles" Target="/ppt/tableStyles.xml" Id="Re872bd175eb741a1" /><Relationship Type="http://schemas.openxmlformats.org/officeDocument/2006/relationships/slide" Target="/ppt/slides/slide1.xml" Id="Rcc8497b6a5d145a7" /><Relationship Type="http://schemas.openxmlformats.org/officeDocument/2006/relationships/slide" Target="/ppt/slides/slide2.xml" Id="R4a8e916b34304ed1" /><Relationship Type="http://schemas.openxmlformats.org/officeDocument/2006/relationships/slide" Target="/ppt/slides/slide3.xml" Id="Ra5d47ebe765c4a15" /><Relationship Type="http://schemas.openxmlformats.org/officeDocument/2006/relationships/slide" Target="/ppt/slides/slide4.xml" Id="Rb281bb5cb5854297" /><Relationship Type="http://schemas.openxmlformats.org/officeDocument/2006/relationships/slide" Target="/ppt/slides/slide5.xml" Id="R5f5f653f8b7242c9" /><Relationship Type="http://schemas.openxmlformats.org/officeDocument/2006/relationships/slide" Target="/ppt/slides/slide6.xml" Id="Rcded006246694803" /><Relationship Type="http://schemas.openxmlformats.org/officeDocument/2006/relationships/slide" Target="/ppt/slides/slide7.xml" Id="R2aba961008234f64" /><Relationship Type="http://schemas.openxmlformats.org/officeDocument/2006/relationships/slide" Target="/ppt/slides/slide8.xml" Id="R5fa7e44a82224633" /><Relationship Type="http://schemas.openxmlformats.org/officeDocument/2006/relationships/slide" Target="/ppt/slides/slide9.xml" Id="Rb839671c73974596" /><Relationship Type="http://schemas.openxmlformats.org/officeDocument/2006/relationships/slide" Target="/ppt/slides/slide10.xml" Id="R2ef24953a7a640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51cb2c4aba43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669f4bf264488c" /><Relationship Type="http://schemas.openxmlformats.org/officeDocument/2006/relationships/notesMaster" Target="/ppt/notesMasters/notesMaster1.xml" Id="R09620546d94742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4ed7bbd2ac4779" /><Relationship Type="http://schemas.openxmlformats.org/officeDocument/2006/relationships/notesMaster" Target="/ppt/notesMasters/notesMaster1.xml" Id="R50ad87ac0b8247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f66da584614d57" /><Relationship Type="http://schemas.openxmlformats.org/officeDocument/2006/relationships/notesMaster" Target="/ppt/notesMasters/notesMaster1.xml" Id="Rec24172c6f6645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7f9904216c4544" /><Relationship Type="http://schemas.openxmlformats.org/officeDocument/2006/relationships/notesMaster" Target="/ppt/notesMasters/notesMaster1.xml" Id="R890d614999fb4c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50008f80cc4136" /><Relationship Type="http://schemas.openxmlformats.org/officeDocument/2006/relationships/notesMaster" Target="/ppt/notesMasters/notesMaster1.xml" Id="Rf6378dd234164b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487d86e5494057" /><Relationship Type="http://schemas.openxmlformats.org/officeDocument/2006/relationships/notesMaster" Target="/ppt/notesMasters/notesMaster1.xml" Id="R81c33f94454446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21fa614c444542" /><Relationship Type="http://schemas.openxmlformats.org/officeDocument/2006/relationships/notesMaster" Target="/ppt/notesMasters/notesMaster1.xml" Id="R7ca27951a04641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7c1fe15efc4c16" /><Relationship Type="http://schemas.openxmlformats.org/officeDocument/2006/relationships/notesMaster" Target="/ppt/notesMasters/notesMaster1.xml" Id="Ra58f43cebcea4f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c1558346b94422" /><Relationship Type="http://schemas.openxmlformats.org/officeDocument/2006/relationships/notesMaster" Target="/ppt/notesMasters/notesMaster1.xml" Id="Rde4e4ef9cf1045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2ed6dc79594b08" /><Relationship Type="http://schemas.openxmlformats.org/officeDocument/2006/relationships/notesMaster" Target="/ppt/notesMasters/notesMaster1.xml" Id="R1d2c6afbf2aa4c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3653def5d247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7a1edfdc7645c6" /><Relationship Type="http://schemas.openxmlformats.org/officeDocument/2006/relationships/slideLayout" Target="/ppt/slideLayouts/slideLayout1.xml" Id="R1052ea3bbb3c47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52ea3bbb3c47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0e007c20a4a98" /><Relationship Type="http://schemas.openxmlformats.org/officeDocument/2006/relationships/notesSlide" Target="/ppt/notesSlides/notesSlide1.xml" Id="R4aa4d86a5da341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685046d7d4740" /><Relationship Type="http://schemas.openxmlformats.org/officeDocument/2006/relationships/notesSlide" Target="/ppt/notesSlides/notesSlide2.xml" Id="Rdf4f9bb086fa4a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97d1b8b654549" /><Relationship Type="http://schemas.openxmlformats.org/officeDocument/2006/relationships/notesSlide" Target="/ppt/notesSlides/notesSlide3.xml" Id="R62c4da87ca134e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06a6631464af9" /><Relationship Type="http://schemas.openxmlformats.org/officeDocument/2006/relationships/notesSlide" Target="/ppt/notesSlides/notesSlide4.xml" Id="Rae939e047dc249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628f42d1b4396" /><Relationship Type="http://schemas.openxmlformats.org/officeDocument/2006/relationships/notesSlide" Target="/ppt/notesSlides/notesSlide5.xml" Id="Re40fdee5897f4a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a888009394e7d" /><Relationship Type="http://schemas.openxmlformats.org/officeDocument/2006/relationships/notesSlide" Target="/ppt/notesSlides/notesSlide6.xml" Id="Rf3111176300c41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3962fd9ee4083" /><Relationship Type="http://schemas.openxmlformats.org/officeDocument/2006/relationships/notesSlide" Target="/ppt/notesSlides/notesSlide7.xml" Id="Rca4120dca47e46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152f28f184732" /><Relationship Type="http://schemas.openxmlformats.org/officeDocument/2006/relationships/notesSlide" Target="/ppt/notesSlides/notesSlide8.xml" Id="R3b62f7400b7641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da65bf391441f" /><Relationship Type="http://schemas.openxmlformats.org/officeDocument/2006/relationships/notesSlide" Target="/ppt/notesSlides/notesSlide9.xml" Id="R5ab921f22e3c45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1f84ab79d4056" /><Relationship Type="http://schemas.openxmlformats.org/officeDocument/2006/relationships/notesSlide" Target="/ppt/notesSlides/notesSlide10.xml" Id="R22dbc9a8646a41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29CCFC-046E-4915-8415-DEF5CB68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609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8EAED"/>
                </a:solidFill>
              </a:defRPr>
            </a:pPr>
            <a:r>
              <a:rPr sz="4350" b="1">
                <a:solidFill>
                  <a:srgbClr val="E8EAED"/>
                </a:solidFill>
              </a:rPr>
              <a:t>Parallax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C58E4-8968-45D4-BA8B-423B1381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8EAED"/>
                </a:solidFill>
              </a:defRPr>
            </a:pPr>
            <a:r>
              <a:rPr sz="1800" b="0">
                <a:solidFill>
                  <a:srgbClr val="E8EAED"/>
                </a:solidFill>
              </a:rPr>
              <a:t>Video-first conversations with people who see the world differently.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AF701-C928-4704-90B6-98F481E2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0A6"/>
                </a:solidFill>
              </a:defRPr>
            </a:pPr>
            <a:r>
              <a:rPr sz="1200" b="0">
                <a:solidFill>
                  <a:srgbClr val="9AA0A6"/>
                </a:solidFill>
              </a:rPr>
              <a:t>Anonymous · AI-moderated · factual context powered by Exa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0E4D7-8DB2-4AAB-96F1-74EFFC46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447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B8DEF"/>
          </a:solidFill>
          <a:ln xmlns:a="http://schemas.openxmlformats.org/drawingml/2006/main" w="9525">
            <a:solidFill>
              <a:srgbClr val="5B8D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Hackathon Pitch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699CC-4FCE-46FD-A32C-5C0A76ED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43250"/>
            <a:ext cx="2038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A1D2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8EAED"/>
                </a:solidFill>
              </a:defRPr>
            </a:pPr>
            <a:r>
              <a:rPr sz="1050" b="1">
                <a:solidFill>
                  <a:srgbClr val="E8EAED"/>
                </a:solidFill>
              </a:rPr>
              <a:t>React + Fastify + LiveKit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5F187-EE88-418D-8AF1-D90FCFFC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38200"/>
            <a:ext cx="3638550" cy="42862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1A1D2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CC574F-21F0-45FB-B463-E6AEC6A3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24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8EAED"/>
                </a:solidFill>
              </a:defRPr>
            </a:pPr>
            <a:r>
              <a:rPr sz="1725" b="1">
                <a:solidFill>
                  <a:srgbClr val="E8EAED"/>
                </a:solidFill>
              </a:rPr>
              <a:t>Start conversation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B6BC2-C8AD-44E7-9496-1D916336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812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AA0A6"/>
                </a:solidFill>
              </a:defRPr>
            </a:pPr>
            <a:r>
              <a:rPr sz="1275" b="0">
                <a:solidFill>
                  <a:srgbClr val="9AA0A6"/>
                </a:solidFill>
              </a:rPr>
              <a:t>Talk with someone who sees the world differently.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94AD6-EDB5-4127-BFAB-277395FF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81350"/>
            <a:ext cx="2286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B8DEF"/>
          </a:solidFill>
          <a:ln xmlns:a="http://schemas.openxmlformats.org/drawingml/2006/main" w="9525">
            <a:solidFill>
              <a:srgbClr val="5B8D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Start conversation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F9DA5-CF58-464F-84F3-6BE63BD5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290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AA0A6"/>
                </a:solidFill>
              </a:defRPr>
            </a:pPr>
            <a:r>
              <a:rPr sz="900" b="0">
                <a:solidFill>
                  <a:srgbClr val="9AA0A6"/>
                </a:solidFill>
              </a:rPr>
              <a:t>Anonymous · AI-moderated · Exa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E301B-89B0-4104-A164-FE638350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07D"/>
                </a:solidFill>
              </a:defRPr>
            </a:pPr>
            <a:r>
              <a:rPr sz="900" b="1">
                <a:solidFill>
                  <a:srgbClr val="69707D"/>
                </a:solidFill>
              </a:rPr>
              <a:t>Parallax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55F91-AAE4-4D7E-94DD-784BC4A7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9707D"/>
                </a:solidFill>
              </a:defRPr>
            </a:pPr>
            <a:r>
              <a:rPr sz="900" b="0">
                <a:solidFill>
                  <a:srgbClr val="69707D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540956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A4E7E2-E1B9-4384-928B-C6071FA9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8DEF"/>
                </a:solidFill>
              </a:defRPr>
            </a:pPr>
            <a:r>
              <a:rPr sz="900" b="1">
                <a:solidFill>
                  <a:srgbClr val="5B8DEF"/>
                </a:solidFill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B7DB1-4AE3-40D9-8F6C-796560D0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8EAED"/>
                </a:solidFill>
              </a:defRPr>
            </a:pPr>
            <a:r>
              <a:rPr sz="3225" b="1">
                <a:solidFill>
                  <a:srgbClr val="E8EAED"/>
                </a:solidFill>
              </a:rPr>
              <a:t>Echo chambers make disagreement low quality.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30463-60EC-4EC5-B00E-DCE0FE77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628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8EAED"/>
                </a:solidFill>
              </a:defRPr>
            </a:pPr>
            <a:r>
              <a:rPr sz="1575" b="0">
                <a:solidFill>
                  <a:srgbClr val="E8EAED"/>
                </a:solidFill>
              </a:rPr>
              <a:t>People meet opposing views as feeds, comments, and outrage clips. They rarely get a bounded, good-faith, one-to-one conversation on a specific issue.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0613A-71A0-4D19-9F63-493ADB35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26479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A1D2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0FEAA-4482-4C19-B2C7-0277AD8B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EAED"/>
                </a:solidFill>
              </a:defRPr>
            </a:pPr>
            <a:r>
              <a:rPr sz="1800" b="1">
                <a:solidFill>
                  <a:srgbClr val="E8EAED"/>
                </a:solidFill>
              </a:rPr>
              <a:t>Random debate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C27FAD-D298-48EC-97DF-D580FF67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0A6"/>
                </a:solidFill>
              </a:defRPr>
            </a:pPr>
            <a:r>
              <a:rPr sz="1200" b="0">
                <a:solidFill>
                  <a:srgbClr val="9AA0A6"/>
                </a:solidFill>
              </a:rPr>
              <a:t>No shared frame; the conversation starts adversarial.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CCF49-593B-4675-A2C2-9661F538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62300"/>
            <a:ext cx="26479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A1D2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BC7B1-8AEF-40DF-AC95-45885A7D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29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EAED"/>
                </a:solidFill>
              </a:defRPr>
            </a:pPr>
            <a:r>
              <a:rPr sz="1800" b="1">
                <a:solidFill>
                  <a:srgbClr val="E8EAED"/>
                </a:solidFill>
              </a:rPr>
              <a:t>Unsafe video chat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F018B-AD14-46FE-87C3-8404DC81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05250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0A6"/>
                </a:solidFill>
              </a:defRPr>
            </a:pPr>
            <a:r>
              <a:rPr sz="1200" b="0">
                <a:solidFill>
                  <a:srgbClr val="9AA0A6"/>
                </a:solidFill>
              </a:rPr>
              <a:t>Omegle-style mechanics worked, but guardrails did not.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561D6-D433-4F6C-93A8-045B5FF7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62300"/>
            <a:ext cx="26479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A1D2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C5D6A-BD8F-4CB5-A3CC-6D2DC5E3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29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EAED"/>
                </a:solidFill>
              </a:defRPr>
            </a:pPr>
            <a:r>
              <a:rPr sz="1800" b="1">
                <a:solidFill>
                  <a:srgbClr val="E8EAED"/>
                </a:solidFill>
              </a:rPr>
              <a:t>Facts get lost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470170-85D7-4292-9663-25A7EA99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05250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0A6"/>
                </a:solidFill>
              </a:defRPr>
            </a:pPr>
            <a:r>
              <a:rPr sz="1200" b="0">
                <a:solidFill>
                  <a:srgbClr val="9AA0A6"/>
                </a:solidFill>
              </a:rPr>
              <a:t>Verifiable claims pass by with no neutral context.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8CAE77-38D6-484F-97DF-A6FCFB4E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07D"/>
                </a:solidFill>
              </a:defRPr>
            </a:pPr>
            <a:r>
              <a:rPr sz="900" b="1">
                <a:solidFill>
                  <a:srgbClr val="69707D"/>
                </a:solidFill>
              </a:rPr>
              <a:t>Parallax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BE852B-732A-488B-8150-BEA209C3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9707D"/>
                </a:solidFill>
              </a:defRPr>
            </a:pPr>
            <a:r>
              <a:rPr sz="900" b="0">
                <a:solidFill>
                  <a:srgbClr val="69707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023615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0D13DA-7B30-4E3F-91C1-766CA204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8DEF"/>
                </a:solidFill>
              </a:defRPr>
            </a:pPr>
            <a:r>
              <a:rPr sz="900" b="1">
                <a:solidFill>
                  <a:srgbClr val="5B8DEF"/>
                </a:solidFill>
              </a:rPr>
              <a:t>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05EE2-A0DD-4C3A-A327-DFC402C9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8EAED"/>
                </a:solidFill>
              </a:defRPr>
            </a:pPr>
            <a:r>
              <a:rPr sz="3225" b="1">
                <a:solidFill>
                  <a:srgbClr val="E8EAED"/>
                </a:solidFill>
              </a:rPr>
              <a:t>A structured 1:1 room for productive disagreement.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06A98-3969-4248-A8C9-20550CE0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EAED"/>
                </a:solidFill>
              </a:defRPr>
            </a:pPr>
            <a:r>
              <a:rPr sz="1500" b="0">
                <a:solidFill>
                  <a:srgbClr val="E8EAED"/>
                </a:solidFill>
              </a:rPr>
              <a:t>Parallax keeps the instant, human feel of random video chat, but adds topic framing, opposite matching, skip/report controls, AI moderation, and non-blocking factual context.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8174B-CB27-478F-9F06-0B6F5774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9810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A1D2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B68F7-B39D-4AD4-AF56-EC18A7B7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D99D1-998C-45BE-943A-96925363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DC614-3B1A-4477-A9B4-6F9529D8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62375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A2F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ED1F97-00E5-4A7A-A894-2EE8505D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8EAED"/>
                </a:solidFill>
              </a:defRPr>
            </a:pPr>
            <a:r>
              <a:rPr sz="1500" b="1">
                <a:solidFill>
                  <a:srgbClr val="E8EAED"/>
                </a:solidFill>
              </a:rPr>
              <a:t>Survey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365A1-0546-44D4-ACD3-DE481749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AA0A6"/>
                </a:solidFill>
              </a:defRPr>
            </a:pPr>
            <a:r>
              <a:rPr sz="900" b="0">
                <a:solidFill>
                  <a:srgbClr val="9AA0A6"/>
                </a:solidFill>
              </a:rPr>
              <a:t>10 questions create a four-axis vector.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DF689-6214-49D0-90E8-8D3DB547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86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2B049-90B4-43E6-942A-03C7D384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195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5A4DBB-0C17-4026-A917-EBF44D75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62375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A2F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4BDB72-1279-4A49-B2C7-2D2276F8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862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8EAED"/>
                </a:solidFill>
              </a:defRPr>
            </a:pPr>
            <a:r>
              <a:rPr sz="1500" b="1">
                <a:solidFill>
                  <a:srgbClr val="E8EAED"/>
                </a:solidFill>
              </a:rPr>
              <a:t>Topic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5FD89A-56EB-4D4F-A930-C8B4673D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815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AA0A6"/>
                </a:solidFill>
              </a:defRPr>
            </a:pPr>
            <a:r>
              <a:rPr sz="900" b="0">
                <a:solidFill>
                  <a:srgbClr val="9AA0A6"/>
                </a:solidFill>
              </a:rPr>
              <a:t>Pick a curated policy question.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029EBB-4AC3-4086-8396-919A0592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86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DEF"/>
          </a:solidFill>
          <a:ln xmlns:a="http://schemas.openxmlformats.org/drawingml/2006/main" w="9525">
            <a:solidFill>
              <a:srgbClr val="5B8D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8BD4CD-02F7-46B1-966D-28BDD212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195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E78F3F-3592-4C56-8A9A-60B5E76A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62375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A2F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1FA97D-545C-435A-9438-14140CF1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862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8EAED"/>
                </a:solidFill>
              </a:defRPr>
            </a:pPr>
            <a:r>
              <a:rPr sz="1500" b="1">
                <a:solidFill>
                  <a:srgbClr val="E8EAED"/>
                </a:solidFill>
              </a:rPr>
              <a:t>Opposite match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A4A0DA-076D-48B4-8CE9-2CF40872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7815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AA0A6"/>
                </a:solidFill>
              </a:defRPr>
            </a:pPr>
            <a:r>
              <a:rPr sz="900" b="0">
                <a:solidFill>
                  <a:srgbClr val="9AA0A6"/>
                </a:solidFill>
              </a:rPr>
              <a:t>Pair by distance on the topic axis.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176C4C-AA68-457A-B32B-F4085367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86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7BD9FB-0BEF-45C5-969B-7B08C4DE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195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B1FD84-29B6-4515-86F7-BAFEB6FA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862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8EAED"/>
                </a:solidFill>
              </a:defRPr>
            </a:pPr>
            <a:r>
              <a:rPr sz="1500" b="1">
                <a:solidFill>
                  <a:srgbClr val="E8EAED"/>
                </a:solidFill>
              </a:rPr>
              <a:t>Video room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B5D27D-59F8-4803-8E40-58BE4530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815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AA0A6"/>
                </a:solidFill>
              </a:defRPr>
            </a:pPr>
            <a:r>
              <a:rPr sz="900" b="0">
                <a:solidFill>
                  <a:srgbClr val="9AA0A6"/>
                </a:solidFill>
              </a:rPr>
              <a:t>Talk, skip, report, and get context cards.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11E649-EA30-4667-AFD5-F4FC8AB2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07D"/>
                </a:solidFill>
              </a:defRPr>
            </a:pPr>
            <a:r>
              <a:rPr sz="900" b="1">
                <a:solidFill>
                  <a:srgbClr val="69707D"/>
                </a:solidFill>
              </a:rPr>
              <a:t>Parallax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A731E2-5A30-4CD7-B205-3FC8ADAC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9707D"/>
                </a:solidFill>
              </a:defRPr>
            </a:pPr>
            <a:r>
              <a:rPr sz="900" b="0">
                <a:solidFill>
                  <a:srgbClr val="69707D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896076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128FB5-5E5B-42F5-8773-303A9548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8DEF"/>
                </a:solidFill>
              </a:defRPr>
            </a:pPr>
            <a:r>
              <a:rPr sz="900" b="1">
                <a:solidFill>
                  <a:srgbClr val="5B8DEF"/>
                </a:solidFill>
              </a:rPr>
              <a:t>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56D968-B76E-4A99-AB6D-7353EB17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8EAED"/>
                </a:solidFill>
              </a:defRPr>
            </a:pPr>
            <a:r>
              <a:rPr sz="3225" b="1">
                <a:solidFill>
                  <a:srgbClr val="E8EAED"/>
                </a:solidFill>
              </a:rPr>
              <a:t>The MVP already implements the core user journey.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46862-A105-45AB-AA6B-D3344CB7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2724150" cy="377190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A1D2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6E36F-7550-45A3-A855-52148DCD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8EAED"/>
                </a:solidFill>
              </a:defRPr>
            </a:pPr>
            <a:r>
              <a:rPr sz="1875" b="1">
                <a:solidFill>
                  <a:srgbClr val="E8EAED"/>
                </a:solidFill>
              </a:rPr>
              <a:t>Value survey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02C4B-8439-4BB4-81B7-3CDAD1B2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05100"/>
            <a:ext cx="2038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2F3D"/>
          </a:solidFill>
          <a:ln xmlns:a="http://schemas.openxmlformats.org/drawingml/2006/main" w="0">
            <a:solidFill>
              <a:srgbClr val="2A2F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55C0B-4CEF-415A-8612-C3A48BC9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05100"/>
            <a:ext cx="122301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DEF"/>
          </a:solidFill>
          <a:ln xmlns:a="http://schemas.openxmlformats.org/drawingml/2006/main" w="0">
            <a:solidFill>
              <a:srgbClr val="5B8D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F4804-A637-42D2-88FC-96B1A88F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95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0A6"/>
                </a:solidFill>
              </a:defRPr>
            </a:pPr>
            <a:r>
              <a:rPr sz="975" b="0">
                <a:solidFill>
                  <a:srgbClr val="9AA0A6"/>
                </a:solidFill>
              </a:rPr>
              <a:t>Question 6 of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5F7A7-CEB8-4DE0-82D6-D22C0B75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20383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BBAC1-EA20-4B2C-B41B-BA206CC1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242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EAED"/>
                </a:solidFill>
              </a:defRPr>
            </a:pPr>
            <a:r>
              <a:rPr sz="1050" b="0">
                <a:solidFill>
                  <a:srgbClr val="E8EAED"/>
                </a:solidFill>
              </a:rPr>
              <a:t>Individual privacy should rarely be compromised for security.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C99C3A-5200-4283-854F-A738AB0D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43400"/>
            <a:ext cx="2038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540B0-D02F-49C6-9CB1-57BEE34B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0A6"/>
                </a:solidFill>
              </a:defRPr>
            </a:pPr>
            <a:r>
              <a:rPr sz="900" b="0">
                <a:solidFill>
                  <a:srgbClr val="9AA0A6"/>
                </a:solidFill>
              </a:rPr>
              <a:t>Strongly Disagree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DEFDD-4A69-4732-884A-B924205F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43450"/>
            <a:ext cx="2038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223A"/>
          </a:solidFill>
          <a:ln xmlns:a="http://schemas.openxmlformats.org/drawingml/2006/main" w="9525">
            <a:solidFill>
              <a:srgbClr val="5B8D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CA3BD5-7CCB-405B-A093-251C094A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196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EAED"/>
                </a:solidFill>
              </a:defRPr>
            </a:pPr>
            <a:r>
              <a:rPr sz="900" b="0">
                <a:solidFill>
                  <a:srgbClr val="E8EAED"/>
                </a:solidFill>
              </a:rPr>
              <a:t>Disagree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B87740-CD82-40BB-801D-8B0A297B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43500"/>
            <a:ext cx="2038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E5415C-0D9E-4BC4-8FF6-B51DF5C7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0A6"/>
                </a:solidFill>
              </a:defRPr>
            </a:pPr>
            <a:r>
              <a:rPr sz="900" b="0">
                <a:solidFill>
                  <a:srgbClr val="9AA0A6"/>
                </a:solidFill>
              </a:rPr>
              <a:t>Neutral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C817D3-6DAC-4A8F-9F41-1C69692D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981200"/>
            <a:ext cx="2724150" cy="377190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A1D2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8B2C84-99FF-4AF9-B2C3-7481A27F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28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8EAED"/>
                </a:solidFill>
              </a:defRPr>
            </a:pPr>
            <a:r>
              <a:rPr sz="1875" b="1">
                <a:solidFill>
                  <a:srgbClr val="E8EAED"/>
                </a:solidFill>
              </a:rPr>
              <a:t>Topic picker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03A3D5-B076-4886-9B26-21C44B90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670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0A6"/>
                </a:solidFill>
              </a:defRPr>
            </a:pPr>
            <a:r>
              <a:rPr sz="1050" b="0">
                <a:solidFill>
                  <a:srgbClr val="9AA0A6"/>
                </a:solidFill>
              </a:rPr>
              <a:t>Choose a topic. You'll be matched with someone who holds a different view.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38F6BE-D795-4982-A4DB-76DBF9A2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09950"/>
            <a:ext cx="21336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223A"/>
          </a:solidFill>
          <a:ln xmlns:a="http://schemas.openxmlformats.org/drawingml/2006/main" w="9525">
            <a:solidFill>
              <a:srgbClr val="5B8D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FCEFEC-F2A0-48C7-8A5D-C3308A39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147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AED"/>
                </a:solidFill>
              </a:defRPr>
            </a:pPr>
            <a:r>
              <a:rPr sz="975" b="0">
                <a:solidFill>
                  <a:srgbClr val="E8EAED"/>
                </a:solidFill>
              </a:rPr>
              <a:t>Capital gains tax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44C03A-F1D9-4CA5-A71F-5D4FECBC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05250"/>
            <a:ext cx="21336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B42D2-4A5E-4501-82F5-A1E27C72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100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AED"/>
                </a:solidFill>
              </a:defRPr>
            </a:pPr>
            <a:r>
              <a:rPr sz="975" b="0">
                <a:solidFill>
                  <a:srgbClr val="E8EAED"/>
                </a:solidFill>
              </a:rPr>
              <a:t>Immigration policy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B3703C-84A8-4ED5-9124-F58B3495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00550"/>
            <a:ext cx="21336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61C00C-0F36-4CDE-A132-C14DFEEB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5053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AED"/>
                </a:solidFill>
              </a:defRPr>
            </a:pPr>
            <a:r>
              <a:rPr sz="975" b="0">
                <a:solidFill>
                  <a:srgbClr val="E8EAED"/>
                </a:solidFill>
              </a:rPr>
              <a:t>Climate regulation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A7A0B4-8DCE-4CCE-8BC8-26BB3F28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895850"/>
            <a:ext cx="21336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800A2B-6813-4706-928F-DEF39508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0006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AED"/>
                </a:solidFill>
              </a:defRPr>
            </a:pPr>
            <a:r>
              <a:rPr sz="975" b="0">
                <a:solidFill>
                  <a:srgbClr val="E8EAED"/>
                </a:solidFill>
              </a:rPr>
              <a:t>Government surveillance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EF357D-9CBA-4C68-94DE-D2257EDC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81200"/>
            <a:ext cx="3676650" cy="377190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1A1D2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B8EAF8-EAFF-421D-8E34-F2737FA8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479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E8EAED"/>
                </a:solidFill>
              </a:defRPr>
            </a:pPr>
            <a:r>
              <a:rPr sz="975" b="0">
                <a:solidFill>
                  <a:srgbClr val="E8EAED"/>
                </a:solidFill>
              </a:rPr>
              <a:t>Discussing: Should capital gains be taxed as ordinary income?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165445-DBCD-426B-A5C9-AF2E631B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24150"/>
            <a:ext cx="14478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69819E-3E27-4744-8850-D0253323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24150"/>
            <a:ext cx="14478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B9730E-D024-43B8-90F6-C560D088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956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8EAED"/>
                </a:solidFill>
              </a:defRPr>
            </a:pPr>
            <a:r>
              <a:rPr sz="825" b="0">
                <a:solidFill>
                  <a:srgbClr val="E8EAED"/>
                </a:solidFill>
              </a:rPr>
              <a:t>You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5AC4C7-2AF6-4922-8140-C2EE309A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956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8EAED"/>
                </a:solidFill>
              </a:defRPr>
            </a:pPr>
            <a:r>
              <a:rPr sz="825" b="0">
                <a:solidFill>
                  <a:srgbClr val="E8EAED"/>
                </a:solidFill>
              </a:rPr>
              <a:t>Partner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05FA67-0A97-43D1-8D7A-1014B201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90950"/>
            <a:ext cx="628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A1D2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8EAED"/>
                </a:solidFill>
              </a:defRPr>
            </a:pPr>
            <a:r>
              <a:rPr sz="1050" b="1">
                <a:solidFill>
                  <a:srgbClr val="E8EAED"/>
                </a:solidFill>
              </a:rPr>
              <a:t>Mute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4AB501-8B4A-4AAF-B119-310C4820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90950"/>
            <a:ext cx="609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A1D2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8EAED"/>
                </a:solidFill>
              </a:defRPr>
            </a:pPr>
            <a:r>
              <a:rPr sz="1050" b="1">
                <a:solidFill>
                  <a:srgbClr val="E8EAED"/>
                </a:solidFill>
              </a:rPr>
              <a:t>Skip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0D2FEE-4C0F-4A64-BF06-742FF18F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90950"/>
            <a:ext cx="742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57373"/>
          </a:solidFill>
          <a:ln xmlns:a="http://schemas.openxmlformats.org/drawingml/2006/main" w="9525">
            <a:solidFill>
              <a:srgbClr val="E5737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Report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73EEAA-C58B-4CA7-A7C5-3FCD7A1C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19600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FF8DD9-0912-49E6-B704-74B0F794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291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0A6"/>
                </a:solidFill>
              </a:defRPr>
            </a:pPr>
            <a:r>
              <a:rPr sz="975" b="0">
                <a:solidFill>
                  <a:srgbClr val="9AA0A6"/>
                </a:solidFill>
              </a:rPr>
              <a:t>Try to understand their view first.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02D821-39B6-4DC0-97F8-1B6EE29E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19600"/>
            <a:ext cx="8953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75DCBF-41BC-4F8C-92A5-258D2DAB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6101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B8DEF"/>
                </a:solidFill>
              </a:defRPr>
            </a:pPr>
            <a:r>
              <a:rPr sz="750" b="1">
                <a:solidFill>
                  <a:srgbClr val="5B8DEF"/>
                </a:solidFill>
              </a:rPr>
              <a:t>Context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D73537-BAE6-490E-8BCA-694D1AB8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07D"/>
                </a:solidFill>
              </a:defRPr>
            </a:pPr>
            <a:r>
              <a:rPr sz="900" b="1">
                <a:solidFill>
                  <a:srgbClr val="69707D"/>
                </a:solidFill>
              </a:rPr>
              <a:t>Parallax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C45843-8813-4A29-B941-06F70C0B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9707D"/>
                </a:solidFill>
              </a:defRPr>
            </a:pPr>
            <a:r>
              <a:rPr sz="900" b="0">
                <a:solidFill>
                  <a:srgbClr val="69707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939806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C67DF1-18BE-4C6B-88A8-0E506489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8DEF"/>
                </a:solidFill>
              </a:defRPr>
            </a:pPr>
            <a:r>
              <a:rPr sz="900" b="1">
                <a:solidFill>
                  <a:srgbClr val="5B8DEF"/>
                </a:solidFill>
              </a:rPr>
              <a:t>MATCHING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086A8-8278-40F6-8251-A5A90358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90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8EAED"/>
                </a:solidFill>
              </a:defRPr>
            </a:pPr>
            <a:r>
              <a:rPr sz="3225" b="1">
                <a:solidFill>
                  <a:srgbClr val="E8EAED"/>
                </a:solidFill>
              </a:rPr>
              <a:t>Opposition is computed, not self-declared.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A0A1D-11EF-4863-B3A7-6E8FFA75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752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EAED"/>
                </a:solidFill>
              </a:defRPr>
            </a:pPr>
            <a:r>
              <a:rPr sz="1500" b="0">
                <a:solidFill>
                  <a:srgbClr val="E8EAED"/>
                </a:solidFill>
              </a:rPr>
              <a:t>A short Likert survey becomes a 4D profile: economic, diplomatic, civil, and societal. Each curated topic maps to a primary axis; the queue pairs users with maximum opposite distance on that axis.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5A49E-57EC-4DC7-843A-2A0063E2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5755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2F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1F532-BDDC-4CAC-B7B4-CCC69E7A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0A6"/>
                </a:solidFill>
              </a:defRPr>
            </a:pPr>
            <a:r>
              <a:rPr sz="1050" b="0">
                <a:solidFill>
                  <a:srgbClr val="9AA0A6"/>
                </a:solidFill>
              </a:rPr>
              <a:t>Markets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A0276-5FC7-40D0-978E-85165AC4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671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AA0A6"/>
                </a:solidFill>
              </a:defRPr>
            </a:pPr>
            <a:r>
              <a:rPr sz="1050" b="0">
                <a:solidFill>
                  <a:srgbClr val="9AA0A6"/>
                </a:solidFill>
              </a:rPr>
              <a:t>Equality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BDEDA-4A37-4C35-B609-20DE9E75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6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DEF"/>
          </a:solidFill>
          <a:ln xmlns:a="http://schemas.openxmlformats.org/drawingml/2006/main" w="0">
            <a:solidFill>
              <a:srgbClr val="5B8D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6137FE-C4EF-4416-90A1-5F2149B6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86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C784"/>
          </a:solidFill>
          <a:ln xmlns:a="http://schemas.openxmlformats.org/drawingml/2006/main" w="0">
            <a:solidFill>
              <a:srgbClr val="81C78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E5C2D-EE44-44EF-B31C-D49B67F8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623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1117"/>
                </a:solidFill>
              </a:defRPr>
            </a:pPr>
            <a:r>
              <a:rPr sz="975" b="1">
                <a:solidFill>
                  <a:srgbClr val="0F1117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6553FA-5C46-4DB6-A374-941A41AD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623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1117"/>
                </a:solidFill>
              </a:defRPr>
            </a:pPr>
            <a:r>
              <a:rPr sz="975" b="1">
                <a:solidFill>
                  <a:srgbClr val="0F1117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C07DC-1461-4426-8D3E-4E2E4334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EAED"/>
                </a:solidFill>
              </a:defRPr>
            </a:pPr>
            <a:r>
              <a:rPr sz="1200" b="0">
                <a:solidFill>
                  <a:srgbClr val="E8EAED"/>
                </a:solidFill>
              </a:rPr>
              <a:t>Capital gains tax topic uses the economic axis.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822B34-0243-429C-8D6C-7799E215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86050"/>
            <a:ext cx="3524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4BD5F4-1321-4159-B615-D7A6AFD8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00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8EAED"/>
                </a:solidFill>
              </a:defRPr>
            </a:pPr>
            <a:r>
              <a:rPr sz="1125" b="0">
                <a:solidFill>
                  <a:srgbClr val="E8EAED"/>
                </a:solidFill>
              </a:rPr>
              <a:t>Primary-axis distance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44FD0D-5381-4862-AA86-594C4FBF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003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AA0A6"/>
                </a:solidFill>
              </a:defRPr>
            </a:pPr>
            <a:r>
              <a:rPr sz="1050" b="0">
                <a:solidFill>
                  <a:srgbClr val="9AA0A6"/>
                </a:solidFill>
              </a:rPr>
              <a:t>large gap wins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831607-8990-484B-AD23-838794BA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76600"/>
            <a:ext cx="3524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964E9D-58CF-451F-8ABB-0599184F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909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8EAED"/>
                </a:solidFill>
              </a:defRPr>
            </a:pPr>
            <a:r>
              <a:rPr sz="1125" b="0">
                <a:solidFill>
                  <a:srgbClr val="E8EAED"/>
                </a:solidFill>
              </a:rPr>
              <a:t>Opposite sign bonus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C1B2A1-AB96-4863-8040-8A38FDD8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9090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AA0A6"/>
                </a:solidFill>
              </a:defRPr>
            </a:pPr>
            <a:r>
              <a:rPr sz="1050" b="0">
                <a:solidFill>
                  <a:srgbClr val="9AA0A6"/>
                </a:solidFill>
              </a:rPr>
              <a:t>+20 when values cross zero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4C9DF2-B0C2-4E6A-B59F-7CBEEA3C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67150"/>
            <a:ext cx="3524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397F42-CD48-4EFE-B5C7-67A18ADC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814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8EAED"/>
                </a:solidFill>
              </a:defRPr>
            </a:pPr>
            <a:r>
              <a:rPr sz="1125" b="0">
                <a:solidFill>
                  <a:srgbClr val="E8EAED"/>
                </a:solidFill>
              </a:rPr>
              <a:t>Tie breaker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278CCA-85F1-46F2-9836-2BC4602B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814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AA0A6"/>
                </a:solidFill>
              </a:defRPr>
            </a:pPr>
            <a:r>
              <a:rPr sz="1050" b="0">
                <a:solidFill>
                  <a:srgbClr val="9AA0A6"/>
                </a:solidFill>
              </a:rPr>
              <a:t>total 4-axis distance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564B74-5950-4B60-8EDF-EACD8A90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3524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F111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CCA754-C235-44DE-89C5-F9D3B3DB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72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8EAED"/>
                </a:solidFill>
              </a:defRPr>
            </a:pPr>
            <a:r>
              <a:rPr sz="1125" b="0">
                <a:solidFill>
                  <a:srgbClr val="E8EAED"/>
                </a:solidFill>
              </a:rPr>
              <a:t>Fallback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5095E1-9B83-4A69-B819-AC2AD9F8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AA0A6"/>
                </a:solidFill>
              </a:defRPr>
            </a:pPr>
            <a:r>
              <a:rPr sz="1050" b="0">
                <a:solidFill>
                  <a:srgbClr val="9AA0A6"/>
                </a:solidFill>
              </a:rPr>
              <a:t>relax after 30 seconds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34B805-3CE8-4876-B9F9-DD677C8A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07D"/>
                </a:solidFill>
              </a:defRPr>
            </a:pPr>
            <a:r>
              <a:rPr sz="900" b="1">
                <a:solidFill>
                  <a:srgbClr val="69707D"/>
                </a:solidFill>
              </a:rPr>
              <a:t>Parallax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BE1403-F37B-4239-A9D3-10BBC673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9707D"/>
                </a:solidFill>
              </a:defRPr>
            </a:pPr>
            <a:r>
              <a:rPr sz="900" b="0">
                <a:solidFill>
                  <a:srgbClr val="69707D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011312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66F5BB-FF15-4247-8E6C-CC842570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8DEF"/>
                </a:solidFill>
              </a:defRPr>
            </a:pPr>
            <a:r>
              <a:rPr sz="900" b="1">
                <a:solidFill>
                  <a:srgbClr val="5B8DEF"/>
                </a:solidFill>
              </a:rPr>
              <a:t>TRUST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707C8-ADD9-4D31-BA47-F110ECE1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8EAED"/>
                </a:solidFill>
              </a:defRPr>
            </a:pPr>
            <a:r>
              <a:rPr sz="3225" b="1">
                <a:solidFill>
                  <a:srgbClr val="E8EAED"/>
                </a:solidFill>
              </a:rPr>
              <a:t>Safety is built into the room loop.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02561-7145-4935-B0AC-4375238A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EAED"/>
                </a:solidFill>
              </a:defRPr>
            </a:pPr>
            <a:r>
              <a:rPr sz="1500" b="0">
                <a:solidFill>
                  <a:srgbClr val="E8EAED"/>
                </a:solidFill>
              </a:rPr>
              <a:t>The MVP handles text before display, samples video frames, records violations, and gives users immediate skip/report escape hatches.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452AC-83C4-4CCB-BC86-61B1662B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4381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A1D2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38F07-2975-43E0-82C5-9AF8FBAC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14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9069E-4812-4408-BEB7-B625DAD3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09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8EAED"/>
                </a:solidFill>
              </a:defRPr>
            </a:pPr>
            <a:r>
              <a:rPr sz="1650" b="1">
                <a:solidFill>
                  <a:srgbClr val="E8EAED"/>
                </a:solidFill>
              </a:rPr>
              <a:t>Text moderation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4180D-9E04-45BA-83A8-F915B89E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71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0A6"/>
                </a:solidFill>
              </a:defRPr>
            </a:pPr>
            <a:r>
              <a:rPr sz="1125" b="0">
                <a:solidFill>
                  <a:srgbClr val="9AA0A6"/>
                </a:solidFill>
              </a:rPr>
              <a:t>Blocklist first, then OpenAI moderation when configured.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2D09CA-8A9A-4DC3-81EC-535623DF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81300"/>
            <a:ext cx="4381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A1D2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8162EE-0A18-44B8-BDEC-68A8B32D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114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8A0D9-ADDB-4B4B-AA35-F0CBAE12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9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8EAED"/>
                </a:solidFill>
              </a:defRPr>
            </a:pPr>
            <a:r>
              <a:rPr sz="1650" b="1">
                <a:solidFill>
                  <a:srgbClr val="E8EAED"/>
                </a:solidFill>
              </a:rPr>
              <a:t>Frame checks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30D520-6C7C-40EF-8065-4E125C13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0A6"/>
                </a:solidFill>
              </a:defRPr>
            </a:pPr>
            <a:r>
              <a:rPr sz="1125" b="0">
                <a:solidFill>
                  <a:srgbClr val="9AA0A6"/>
                </a:solidFill>
              </a:rPr>
              <a:t>Sample local video frames every 10 seconds for explicit content.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C31D70-6BF7-4CEE-B163-8374CFFC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4381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A1D2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37E706-4554-4D2E-B015-5AA5BB83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114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73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D1BF02-E0ED-459A-BB5D-A66A63E6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386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8EAED"/>
                </a:solidFill>
              </a:defRPr>
            </a:pPr>
            <a:r>
              <a:rPr sz="1650" b="1">
                <a:solidFill>
                  <a:srgbClr val="E8EAED"/>
                </a:solidFill>
              </a:rPr>
              <a:t>Session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E02D0D-29C5-4123-A3A9-DD33FD87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006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0A6"/>
                </a:solidFill>
              </a:defRPr>
            </a:pPr>
            <a:r>
              <a:rPr sz="1125" b="0">
                <a:solidFill>
                  <a:srgbClr val="9AA0A6"/>
                </a:solidFill>
              </a:rPr>
              <a:t>Allow, warn, block, or end session based on severity.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B578FB-B6E6-4514-9D2E-F0CC1462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210050"/>
            <a:ext cx="4381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A1D2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7EA825-0403-4711-8E1B-6829E6E1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114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C7148A-CB6D-49D4-8B8E-270C07E0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386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8EAED"/>
                </a:solidFill>
              </a:defRPr>
            </a:pPr>
            <a:r>
              <a:rPr sz="1650" b="1">
                <a:solidFill>
                  <a:srgbClr val="E8EAED"/>
                </a:solidFill>
              </a:rPr>
              <a:t>Violation 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AE2FB7-5F6E-4726-A6D0-4E089DBC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006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0A6"/>
                </a:solidFill>
              </a:defRPr>
            </a:pPr>
            <a:r>
              <a:rPr sz="1125" b="0">
                <a:solidFill>
                  <a:srgbClr val="9AA0A6"/>
                </a:solidFill>
              </a:rPr>
              <a:t>Redis + SQLite support repeated-violation enforcement.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F1A82F-EAA5-4B9B-A58E-4DADBCC8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07D"/>
                </a:solidFill>
              </a:defRPr>
            </a:pPr>
            <a:r>
              <a:rPr sz="900" b="1">
                <a:solidFill>
                  <a:srgbClr val="69707D"/>
                </a:solidFill>
              </a:rPr>
              <a:t>Parallax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A4D6F-3E25-4AC5-B4A7-1F00A7F8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9707D"/>
                </a:solidFill>
              </a:defRPr>
            </a:pPr>
            <a:r>
              <a:rPr sz="900" b="0">
                <a:solidFill>
                  <a:srgbClr val="69707D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103969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15D81D-3CB3-4FCF-BCC1-EE17CA31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8DEF"/>
                </a:solidFill>
              </a:defRPr>
            </a:pPr>
            <a:r>
              <a:rPr sz="900" b="1">
                <a:solidFill>
                  <a:srgbClr val="5B8DEF"/>
                </a:solidFill>
              </a:rPr>
              <a:t>FACTUAL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3D457-63BA-4B69-9A3D-F1D5868F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8EAED"/>
                </a:solidFill>
              </a:defRPr>
            </a:pPr>
            <a:r>
              <a:rPr sz="3225" b="1">
                <a:solidFill>
                  <a:srgbClr val="E8EAED"/>
                </a:solidFill>
              </a:rPr>
              <a:t>Facts get surfaced without turning the app into a referee.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59B2A-25E1-4B21-8617-4D923D9D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EAED"/>
                </a:solidFill>
              </a:defRPr>
            </a:pPr>
            <a:r>
              <a:rPr sz="1500" b="0">
                <a:solidFill>
                  <a:srgbClr val="E8EAED"/>
                </a:solidFill>
              </a:rPr>
              <a:t>Messages are scanned for verifiable claims. Exa retrieves sources; an LLM summarizes the evidence into a small sidebar card with a cautious verdict.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15BCD-1FE2-4C4E-944A-CF6D163C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A1D2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B528C-4A8D-4DFF-8FAE-BCBD1E80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099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8EAED"/>
                </a:solidFill>
              </a:defRPr>
            </a:pPr>
            <a:r>
              <a:rPr sz="1650" b="1">
                <a:solidFill>
                  <a:srgbClr val="E8EAED"/>
                </a:solidFill>
              </a:rPr>
              <a:t>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89C01-33EC-4865-BD9D-1F5A4447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56235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8D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55106-D445-45D1-8ECF-3A7C5432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A1D2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26858-7ED9-4C38-9549-E3AC8DF4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099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8EAED"/>
                </a:solidFill>
              </a:defRPr>
            </a:pPr>
            <a:r>
              <a:rPr sz="1650" b="1">
                <a:solidFill>
                  <a:srgbClr val="E8EAED"/>
                </a:solidFill>
              </a:rPr>
              <a:t>Extract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3C022-CCBF-4B73-AE1D-4FC25CE1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56235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8D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70499-54DD-4259-A095-F7916979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A1D2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972AE-384A-4EBB-929F-8FB32723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099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8EAED"/>
                </a:solidFill>
              </a:defRPr>
            </a:pPr>
            <a:r>
              <a:rPr sz="1650" b="1">
                <a:solidFill>
                  <a:srgbClr val="E8EAED"/>
                </a:solidFill>
              </a:rPr>
              <a:t>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CE994D-DF4C-4ED6-A455-E29059FD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6235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8D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D24C08-6E0D-4E53-ABA4-A734FD28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7223A"/>
          </a:solidFill>
          <a:ln xmlns:a="http://schemas.openxmlformats.org/drawingml/2006/main" w="9525">
            <a:solidFill>
              <a:srgbClr val="5B8D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87EA6-4B0A-4458-88FE-34E3E39C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099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8EAED"/>
                </a:solidFill>
              </a:defRPr>
            </a:pPr>
            <a:r>
              <a:rPr sz="1650" b="1">
                <a:solidFill>
                  <a:srgbClr val="E8EAED"/>
                </a:solidFill>
              </a:rPr>
              <a:t>Context card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C79B6-4452-4CE4-9D49-1974713C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34340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A1D2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8C43F5-95D4-4730-BD80-6B131F56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5148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8DEF"/>
                </a:solidFill>
              </a:defRPr>
            </a:pPr>
            <a:r>
              <a:rPr sz="900" b="1">
                <a:solidFill>
                  <a:srgbClr val="5B8DEF"/>
                </a:solidFill>
              </a:rPr>
              <a:t>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31CFF2-A0CA-4F65-9092-36B9B4C7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7625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0A6"/>
                </a:solidFill>
              </a:defRPr>
            </a:pPr>
            <a:r>
              <a:rPr sz="975" b="0">
                <a:solidFill>
                  <a:srgbClr val="9AA0A6"/>
                </a:solidFill>
              </a:rPr>
              <a:t>"The rate is always lower."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20A97B-D31A-42D5-9F6B-EA711BB8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0482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AED"/>
                </a:solidFill>
              </a:defRPr>
            </a:pPr>
            <a:r>
              <a:rPr sz="975" b="0">
                <a:solidFill>
                  <a:srgbClr val="E8EAED"/>
                </a:solidFill>
              </a:rPr>
              <a:t>Mixed evidence: this claim may need nuance.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AD7D37-9298-436F-9075-447EC39E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07D"/>
                </a:solidFill>
              </a:defRPr>
            </a:pPr>
            <a:r>
              <a:rPr sz="900" b="1">
                <a:solidFill>
                  <a:srgbClr val="69707D"/>
                </a:solidFill>
              </a:rPr>
              <a:t>Parallax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BC600B-E3B1-48CD-BB05-D56867AE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9707D"/>
                </a:solidFill>
              </a:defRPr>
            </a:pPr>
            <a:r>
              <a:rPr sz="900" b="0">
                <a:solidFill>
                  <a:srgbClr val="69707D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952627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857D1B-5062-4CC8-9B69-A96AC089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8DEF"/>
                </a:solidFill>
              </a:defRPr>
            </a:pPr>
            <a:r>
              <a:rPr sz="900" b="1">
                <a:solidFill>
                  <a:srgbClr val="5B8DEF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18756-C9A9-4195-B6CE-E65B62CE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8EAED"/>
                </a:solidFill>
              </a:defRPr>
            </a:pPr>
            <a:r>
              <a:rPr sz="3225" b="1">
                <a:solidFill>
                  <a:srgbClr val="E8EAED"/>
                </a:solidFill>
              </a:rPr>
              <a:t>Hackathon-ready stack with clear replaceable boundaries.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A1E89-E23B-429A-A262-CB09A644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8575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1A1D2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89894-DB6C-4932-A2CC-A0BDDC7C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8EAED"/>
                </a:solidFill>
              </a:defRPr>
            </a:pPr>
            <a:r>
              <a:rPr sz="2025" b="1">
                <a:solidFill>
                  <a:srgbClr val="E8EAED"/>
                </a:solidFill>
              </a:rPr>
              <a:t>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BBD21-EFEB-418D-994B-EA9BEFFA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2266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EAED"/>
                </a:solidFill>
              </a:defRPr>
            </a:pPr>
            <a:r>
              <a:rPr sz="1350" b="0">
                <a:solidFill>
                  <a:srgbClr val="E8EAED"/>
                </a:solidFill>
              </a:rPr>
              <a:t>Vite + React 19</a:t>
            </a:r>
          </a:p>
          <a:p xmlns:a="http://schemas.openxmlformats.org/drawingml/2006/main">
            <a:pPr algn="l">
              <a:defRPr sz="1350" b="0">
                <a:solidFill>
                  <a:srgbClr val="E8EAED"/>
                </a:solidFill>
              </a:defRPr>
            </a:pPr>
            <a:r>
              <a:rPr sz="1350" b="0">
                <a:solidFill>
                  <a:srgbClr val="E8EAED"/>
                </a:solidFill>
              </a:rPr>
              <a:t>Tailwind CSS v4</a:t>
            </a:r>
          </a:p>
          <a:p xmlns:a="http://schemas.openxmlformats.org/drawingml/2006/main">
            <a:pPr algn="l">
              <a:defRPr sz="1350" b="0">
                <a:solidFill>
                  <a:srgbClr val="E8EAED"/>
                </a:solidFill>
              </a:defRPr>
            </a:pPr>
            <a:r>
              <a:rPr sz="1350" b="0">
                <a:solidFill>
                  <a:srgbClr val="E8EAED"/>
                </a:solidFill>
              </a:rPr>
              <a:t>LiveKit components</a:t>
            </a:r>
          </a:p>
          <a:p xmlns:a="http://schemas.openxmlformats.org/drawingml/2006/main">
            <a:pPr algn="l">
              <a:defRPr sz="1350" b="0">
                <a:solidFill>
                  <a:srgbClr val="E8EAED"/>
                </a:solidFill>
              </a:defRPr>
            </a:pPr>
            <a:r>
              <a:rPr sz="1350" b="0">
                <a:solidFill>
                  <a:srgbClr val="E8EAED"/>
                </a:solidFill>
              </a:rPr>
              <a:t>Zustand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2382E-C45B-44FE-B082-AB931458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90750"/>
            <a:ext cx="28575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1A1D2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BACE4-AC5E-4BA7-94F9-193531F3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8EAED"/>
                </a:solidFill>
              </a:defRPr>
            </a:pPr>
            <a:r>
              <a:rPr sz="2025" b="1">
                <a:solidFill>
                  <a:srgbClr val="E8EAED"/>
                </a:solidFill>
              </a:rPr>
              <a:t>Backend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50D69-FBF2-42D2-9734-8D683482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28950"/>
            <a:ext cx="2266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EAED"/>
                </a:solidFill>
              </a:defRPr>
            </a:pPr>
            <a:r>
              <a:rPr sz="1350" b="0">
                <a:solidFill>
                  <a:srgbClr val="E8EAED"/>
                </a:solidFill>
              </a:rPr>
              <a:t>Fastify API</a:t>
            </a:r>
          </a:p>
          <a:p xmlns:a="http://schemas.openxmlformats.org/drawingml/2006/main">
            <a:pPr algn="l">
              <a:defRPr sz="1350" b="0">
                <a:solidFill>
                  <a:srgbClr val="E8EAED"/>
                </a:solidFill>
              </a:defRPr>
            </a:pPr>
            <a:r>
              <a:rPr sz="1350" b="0">
                <a:solidFill>
                  <a:srgbClr val="E8EAED"/>
                </a:solidFill>
              </a:rPr>
              <a:t>WebSocket queue</a:t>
            </a:r>
          </a:p>
          <a:p xmlns:a="http://schemas.openxmlformats.org/drawingml/2006/main">
            <a:pPr algn="l">
              <a:defRPr sz="1350" b="0">
                <a:solidFill>
                  <a:srgbClr val="E8EAED"/>
                </a:solidFill>
              </a:defRPr>
            </a:pPr>
            <a:r>
              <a:rPr sz="1350" b="0">
                <a:solidFill>
                  <a:srgbClr val="E8EAED"/>
                </a:solidFill>
              </a:rPr>
              <a:t>SQLite session log</a:t>
            </a:r>
          </a:p>
          <a:p xmlns:a="http://schemas.openxmlformats.org/drawingml/2006/main">
            <a:pPr algn="l">
              <a:defRPr sz="1350" b="0">
                <a:solidFill>
                  <a:srgbClr val="E8EAED"/>
                </a:solidFill>
              </a:defRPr>
            </a:pPr>
            <a:r>
              <a:rPr sz="1350" b="0">
                <a:solidFill>
                  <a:srgbClr val="E8EAED"/>
                </a:solidFill>
              </a:rPr>
              <a:t>Redis cache + bans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7D29D-4DCC-4486-B6F4-41C179AF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90750"/>
            <a:ext cx="28575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1A1D2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A4241-B1A2-441E-8C7E-CBC8BBA3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76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8EAED"/>
                </a:solidFill>
              </a:defRPr>
            </a:pPr>
            <a:r>
              <a:rPr sz="2025" b="1">
                <a:solidFill>
                  <a:srgbClr val="E8EAED"/>
                </a:solidFill>
              </a:rPr>
              <a:t>AI + realtime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AA7A8-8C9F-4E55-B6E0-F8C9575B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28950"/>
            <a:ext cx="2266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EAED"/>
                </a:solidFill>
              </a:defRPr>
            </a:pPr>
            <a:r>
              <a:rPr sz="1350" b="0">
                <a:solidFill>
                  <a:srgbClr val="E8EAED"/>
                </a:solidFill>
              </a:rPr>
              <a:t>OpenAI moderation</a:t>
            </a:r>
          </a:p>
          <a:p xmlns:a="http://schemas.openxmlformats.org/drawingml/2006/main">
            <a:pPr algn="l">
              <a:defRPr sz="1350" b="0">
                <a:solidFill>
                  <a:srgbClr val="E8EAED"/>
                </a:solidFill>
              </a:defRPr>
            </a:pPr>
            <a:r>
              <a:rPr sz="1350" b="0">
                <a:solidFill>
                  <a:srgbClr val="E8EAED"/>
                </a:solidFill>
              </a:rPr>
              <a:t>GPT-4o-mini claim extraction</a:t>
            </a:r>
          </a:p>
          <a:p xmlns:a="http://schemas.openxmlformats.org/drawingml/2006/main">
            <a:pPr algn="l">
              <a:defRPr sz="1350" b="0">
                <a:solidFill>
                  <a:srgbClr val="E8EAED"/>
                </a:solidFill>
              </a:defRPr>
            </a:pPr>
            <a:r>
              <a:rPr sz="1350" b="0">
                <a:solidFill>
                  <a:srgbClr val="E8EAED"/>
                </a:solidFill>
              </a:rPr>
              <a:t>Exa search grounding</a:t>
            </a:r>
          </a:p>
          <a:p xmlns:a="http://schemas.openxmlformats.org/drawingml/2006/main">
            <a:pPr algn="l">
              <a:defRPr sz="1350" b="0">
                <a:solidFill>
                  <a:srgbClr val="E8EAED"/>
                </a:solidFill>
              </a:defRPr>
            </a:pPr>
            <a:r>
              <a:rPr sz="1350" b="0">
                <a:solidFill>
                  <a:srgbClr val="E8EAED"/>
                </a:solidFill>
              </a:rPr>
              <a:t>LiveKit rooms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DE238F-F650-4721-B32A-92E38D50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0A6"/>
                </a:solidFill>
              </a:defRPr>
            </a:pPr>
            <a:r>
              <a:rPr sz="1350" b="0">
                <a:solidFill>
                  <a:srgbClr val="9AA0A6"/>
                </a:solidFill>
              </a:rPr>
              <a:t>Monorepo: apps/web · apps/api · packages/shared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0CFD9E-237A-443A-9237-ADED2E07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07D"/>
                </a:solidFill>
              </a:defRPr>
            </a:pPr>
            <a:r>
              <a:rPr sz="900" b="1">
                <a:solidFill>
                  <a:srgbClr val="69707D"/>
                </a:solidFill>
              </a:rPr>
              <a:t>Parallax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1DB537-4CA4-4945-AB35-8A4486F9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9707D"/>
                </a:solidFill>
              </a:defRPr>
            </a:pPr>
            <a:r>
              <a:rPr sz="900" b="0">
                <a:solidFill>
                  <a:srgbClr val="69707D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645963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9DB480-C1F6-43FB-88C6-82C9272D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8DEF"/>
                </a:solidFill>
              </a:defRPr>
            </a:pPr>
            <a:r>
              <a:rPr sz="900" b="1">
                <a:solidFill>
                  <a:srgbClr val="5B8DEF"/>
                </a:solidFill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04E6B-A556-4708-9980-097E62CE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8EAED"/>
                </a:solidFill>
              </a:defRPr>
            </a:pPr>
            <a:r>
              <a:rPr sz="3225" b="1">
                <a:solidFill>
                  <a:srgbClr val="E8EAED"/>
                </a:solidFill>
              </a:rPr>
              <a:t>What is already built.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8882A-3914-4650-A431-8DC1AADC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C784"/>
          </a:solidFill>
          <a:ln xmlns:a="http://schemas.openxmlformats.org/drawingml/2006/main" w="0">
            <a:solidFill>
              <a:srgbClr val="81C78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604A1-0244-4E1D-9B22-6E0FEEF2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097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117"/>
                </a:solidFill>
              </a:defRPr>
            </a:pPr>
            <a:r>
              <a:rPr sz="1125" b="1">
                <a:solidFill>
                  <a:srgbClr val="0F1117"/>
                </a:solidFill>
              </a:rPr>
              <a:t>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C4524-7DC9-437A-9720-719E97E2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EAED"/>
                </a:solidFill>
              </a:defRPr>
            </a:pPr>
            <a:r>
              <a:rPr sz="1650" b="0">
                <a:solidFill>
                  <a:srgbClr val="E8EAED"/>
                </a:solidFill>
              </a:rPr>
              <a:t>Survey scoring and session profile storage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A52B8-372A-49AF-9CEB-6F0BB8BF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C784"/>
          </a:solidFill>
          <a:ln xmlns:a="http://schemas.openxmlformats.org/drawingml/2006/main" w="0">
            <a:solidFill>
              <a:srgbClr val="81C78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DC1E0D-8E25-4875-9AF9-652ECAF8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3622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117"/>
                </a:solidFill>
              </a:defRPr>
            </a:pPr>
            <a:r>
              <a:rPr sz="1125" b="1">
                <a:solidFill>
                  <a:srgbClr val="0F1117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C741C-566D-424D-BFDD-C5803379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EAED"/>
                </a:solidFill>
              </a:defRPr>
            </a:pPr>
            <a:r>
              <a:rPr sz="1650" b="0">
                <a:solidFill>
                  <a:srgbClr val="E8EAED"/>
                </a:solidFill>
              </a:rPr>
              <a:t>Curated topic picker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27100-2EE9-44C2-A451-69EBAFF1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C784"/>
          </a:solidFill>
          <a:ln xmlns:a="http://schemas.openxmlformats.org/drawingml/2006/main" w="0">
            <a:solidFill>
              <a:srgbClr val="81C78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8DFED-F9EE-4E83-A11A-B11E4519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146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117"/>
                </a:solidFill>
              </a:defRPr>
            </a:pPr>
            <a:r>
              <a:rPr sz="1125" b="1">
                <a:solidFill>
                  <a:srgbClr val="0F1117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BC689-CFE4-4C0F-B442-4AEB5106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EAED"/>
                </a:solidFill>
              </a:defRPr>
            </a:pPr>
            <a:r>
              <a:rPr sz="1650" b="0">
                <a:solidFill>
                  <a:srgbClr val="E8EAED"/>
                </a:solidFill>
              </a:rPr>
              <a:t>Opposite matching queue with 30s relaxation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608E5-147A-43B2-8EE4-5F164757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C784"/>
          </a:solidFill>
          <a:ln xmlns:a="http://schemas.openxmlformats.org/drawingml/2006/main" w="0">
            <a:solidFill>
              <a:srgbClr val="81C78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6A1173-CA33-4EB3-AFCF-2CC0DA9D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4671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117"/>
                </a:solidFill>
              </a:defRPr>
            </a:pPr>
            <a:r>
              <a:rPr sz="1125" b="1">
                <a:solidFill>
                  <a:srgbClr val="0F1117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D06144-B7C4-4890-B511-CF0ACFD1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671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EAED"/>
                </a:solidFill>
              </a:defRPr>
            </a:pPr>
            <a:r>
              <a:rPr sz="1650" b="0">
                <a:solidFill>
                  <a:srgbClr val="E8EAED"/>
                </a:solidFill>
              </a:rPr>
              <a:t>LiveKit-backed video room plus demo fallback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405C1E-4C31-4116-97CA-FB9CBDE4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C784"/>
          </a:solidFill>
          <a:ln xmlns:a="http://schemas.openxmlformats.org/drawingml/2006/main" w="0">
            <a:solidFill>
              <a:srgbClr val="81C78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B95E06-CB16-4E24-91D3-9E5E6720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195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117"/>
                </a:solidFill>
              </a:defRPr>
            </a:pPr>
            <a:r>
              <a:rPr sz="1125" b="1">
                <a:solidFill>
                  <a:srgbClr val="0F1117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98A21B-84AD-4226-8A6B-AA03181E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195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EAED"/>
                </a:solidFill>
              </a:defRPr>
            </a:pPr>
            <a:r>
              <a:rPr sz="1650" b="0">
                <a:solidFill>
                  <a:srgbClr val="E8EAED"/>
                </a:solidFill>
              </a:rPr>
              <a:t>Text chat, skip, report, and feedback 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F5530B-D99E-47B4-9782-9DF683BA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C784"/>
          </a:solidFill>
          <a:ln xmlns:a="http://schemas.openxmlformats.org/drawingml/2006/main" w="0">
            <a:solidFill>
              <a:srgbClr val="81C78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770941-494C-4A76-99CC-899141A6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5720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117"/>
                </a:solidFill>
              </a:defRPr>
            </a:pPr>
            <a:r>
              <a:rPr sz="1125" b="1">
                <a:solidFill>
                  <a:srgbClr val="0F1117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252EA2-5DAE-4923-8A12-F8ECECF9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720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EAED"/>
                </a:solidFill>
              </a:defRPr>
            </a:pPr>
            <a:r>
              <a:rPr sz="1650" b="0">
                <a:solidFill>
                  <a:srgbClr val="E8EAED"/>
                </a:solidFill>
              </a:rPr>
              <a:t>Text moderation, frame moderation, context cards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3185EC-7B68-481C-AE21-E8594FB8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24574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A1D27"/>
          </a:solidFill>
          <a:ln xmlns:a="http://schemas.openxmlformats.org/drawingml/2006/main" w="9525">
            <a:solidFill>
              <a:srgbClr val="5B8D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9760BC-B9FA-4056-9B83-0D02DE59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241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8EAED"/>
                </a:solidFill>
              </a:defRPr>
            </a:pPr>
            <a:r>
              <a:rPr sz="2100" b="1">
                <a:solidFill>
                  <a:srgbClr val="E8EAED"/>
                </a:solidFill>
              </a:rPr>
              <a:t>Demo mode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C6BAB5-2E7E-4981-BB88-5E41CFBD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14650"/>
            <a:ext cx="1924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EAED"/>
                </a:solidFill>
              </a:defRPr>
            </a:pPr>
            <a:r>
              <a:rPr sz="1200" b="0">
                <a:solidFill>
                  <a:srgbClr val="E8EAED"/>
                </a:solidFill>
              </a:rPr>
              <a:t>Without LiveKit credentials, matching and text chat still run in the demo layout. Add LiveKit, Exa, and OpenAI keys for the full experience.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9C9FB2-406D-44DD-93E7-883951D6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07D"/>
                </a:solidFill>
              </a:defRPr>
            </a:pPr>
            <a:r>
              <a:rPr sz="900" b="1">
                <a:solidFill>
                  <a:srgbClr val="69707D"/>
                </a:solidFill>
              </a:rPr>
              <a:t>Parallax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091B80-942F-4DBB-84B3-D8F586B8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9707D"/>
                </a:solidFill>
              </a:defRPr>
            </a:pPr>
            <a:r>
              <a:rPr sz="900" b="0">
                <a:solidFill>
                  <a:srgbClr val="69707D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960369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8EE403-E642-42F3-B406-006E6500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8DEF"/>
                </a:solidFill>
              </a:defRPr>
            </a:pPr>
            <a:r>
              <a:rPr sz="900" b="1">
                <a:solidFill>
                  <a:srgbClr val="5B8DEF"/>
                </a:solidFill>
              </a:rPr>
              <a:t>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14B58-A959-4E91-B8F6-24D00C75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38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8EAED"/>
                </a:solidFill>
              </a:defRPr>
            </a:pPr>
            <a:r>
              <a:rPr sz="3225" b="1">
                <a:solidFill>
                  <a:srgbClr val="E8EAED"/>
                </a:solidFill>
              </a:rPr>
              <a:t>Turn polarized topics into moderated, human conversations.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E7D8A-028A-4FD9-9E1C-EDE9B6A3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742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EAED"/>
                </a:solidFill>
              </a:defRPr>
            </a:pPr>
            <a:r>
              <a:rPr sz="1650" b="0">
                <a:solidFill>
                  <a:srgbClr val="E8EAED"/>
                </a:solidFill>
              </a:rPr>
              <a:t>Parallax is ready for a hackathon demo because the value prop, flow, matching algorithm, moderation layer, and contextual fact-checking pipeline are already represented in code.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89DBE-783B-4E11-BE01-2722D670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A1D2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16712F-0240-4EE6-A904-E05AB46B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EAED"/>
                </a:solidFill>
              </a:defRPr>
            </a:pPr>
            <a:r>
              <a:rPr sz="1725" b="1">
                <a:solidFill>
                  <a:srgbClr val="E8EAED"/>
                </a:solidFill>
              </a:rPr>
              <a:t>Judge the interaction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E773F-4BD3-492A-9B62-D61A859F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0A6"/>
                </a:solidFill>
              </a:defRPr>
            </a:pPr>
            <a:r>
              <a:rPr sz="1125" b="0">
                <a:solidFill>
                  <a:srgbClr val="9AA0A6"/>
                </a:solidFill>
              </a:rPr>
              <a:t>Does the room feel safe enough for real disagreement?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C63C1-76A0-4E9C-864E-B87582D3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3855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A1D2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D3F8A-76EC-498A-9FDC-DC68168E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EAED"/>
                </a:solidFill>
              </a:defRPr>
            </a:pPr>
            <a:r>
              <a:rPr sz="1725" b="1">
                <a:solidFill>
                  <a:srgbClr val="E8EAED"/>
                </a:solidFill>
              </a:rPr>
              <a:t>Stress the matching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3E677-3C51-429D-A41E-B854255A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243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0A6"/>
                </a:solidFill>
              </a:defRPr>
            </a:pPr>
            <a:r>
              <a:rPr sz="1125" b="0">
                <a:solidFill>
                  <a:srgbClr val="9AA0A6"/>
                </a:solidFill>
              </a:rPr>
              <a:t>Can topic-axis pairing create useful contrast quickly?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8320BF-A43D-493A-B81A-4DBD109D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3855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A1D27"/>
          </a:solidFill>
          <a:ln xmlns:a="http://schemas.openxmlformats.org/drawingml/2006/main" w="9525">
            <a:solidFill>
              <a:srgbClr val="2A2F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438073-FC95-494D-8466-276AACFA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24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EAED"/>
                </a:solidFill>
              </a:defRPr>
            </a:pPr>
            <a:r>
              <a:rPr sz="1725" b="1">
                <a:solidFill>
                  <a:srgbClr val="E8EAED"/>
                </a:solidFill>
              </a:rPr>
              <a:t>Extend the 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4D5892-5EB6-4C72-93E6-AAEDE02A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243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0A6"/>
                </a:solidFill>
              </a:defRPr>
            </a:pPr>
            <a:r>
              <a:rPr sz="1125" b="0">
                <a:solidFill>
                  <a:srgbClr val="9AA0A6"/>
                </a:solidFill>
              </a:rPr>
              <a:t>Add speech transcript, post-session digest, and richer topic briefs.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A12CE-F2A0-4F18-ACCA-1AB9F31F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B8DEF"/>
          </a:solidFill>
          <a:ln xmlns:a="http://schemas.openxmlformats.org/drawingml/2006/main" w="9525">
            <a:solidFill>
              <a:srgbClr val="5B8D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Start conversation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778A1-7488-4655-9865-1AF6BD58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07D"/>
                </a:solidFill>
              </a:defRPr>
            </a:pPr>
            <a:r>
              <a:rPr sz="900" b="1">
                <a:solidFill>
                  <a:srgbClr val="69707D"/>
                </a:solidFill>
              </a:rPr>
              <a:t>Parallax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29EB59-CC74-4010-8F14-23E42D3E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9707D"/>
                </a:solidFill>
              </a:defRPr>
            </a:pPr>
            <a:r>
              <a:rPr sz="900" b="0">
                <a:solidFill>
                  <a:srgbClr val="69707D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90919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2026-06-27T07:24:35.8300000Z</dcterms:created>
  <dcterms:modified xsi:type="dcterms:W3CDTF">2026-06-27T07:24:35.8300000Z</dcterms:modified>
</coreProperties>
</file>
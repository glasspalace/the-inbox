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9a62e32c94fc7" /><Relationship Type="http://schemas.openxmlformats.org/officeDocument/2006/relationships/extended-properties" Target="/docProps/app.xml" Id="Rf90afda63d0e4ce8" /><Relationship Type="http://schemas.openxmlformats.org/officeDocument/2006/relationships/officeDocument" Target="/ppt/presentation.xml" Id="R21243f9d62ff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33600c2a0414b"/>
  </p:sldMasterIdLst>
  <p:notesMasterIdLst>
    <p:notesMasterId xmlns:r="http://schemas.openxmlformats.org/officeDocument/2006/relationships" r:id="R6ad223f2ffc14b23"/>
  </p:notesMasterIdLst>
  <p:sldIdLst>
    <p:sldId xmlns:r="http://schemas.openxmlformats.org/officeDocument/2006/relationships" id="256" r:id="Rfa88b508ef034d9c"/>
    <p:sldId xmlns:r="http://schemas.openxmlformats.org/officeDocument/2006/relationships" id="257" r:id="Re56d80df3f7a4203"/>
    <p:sldId xmlns:r="http://schemas.openxmlformats.org/officeDocument/2006/relationships" id="258" r:id="Rb2f88ff6dfb241f5"/>
    <p:sldId xmlns:r="http://schemas.openxmlformats.org/officeDocument/2006/relationships" id="259" r:id="Rf2fde08b2e8840f5"/>
    <p:sldId xmlns:r="http://schemas.openxmlformats.org/officeDocument/2006/relationships" id="260" r:id="Raa74d93d16c24369"/>
    <p:sldId xmlns:r="http://schemas.openxmlformats.org/officeDocument/2006/relationships" id="261" r:id="R21a35288445a4964"/>
    <p:sldId xmlns:r="http://schemas.openxmlformats.org/officeDocument/2006/relationships" id="262" r:id="R363ea4c19797486b"/>
    <p:sldId xmlns:r="http://schemas.openxmlformats.org/officeDocument/2006/relationships" id="263" r:id="Re0535990cef7418d"/>
    <p:sldId xmlns:r="http://schemas.openxmlformats.org/officeDocument/2006/relationships" id="264" r:id="R99dc2c371ab04e70"/>
    <p:sldId xmlns:r="http://schemas.openxmlformats.org/officeDocument/2006/relationships" id="265" r:id="Ra2f902a3b8fd48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7ae38a03164629" /><Relationship Type="http://schemas.openxmlformats.org/officeDocument/2006/relationships/slideMaster" Target="/ppt/slideMasters/slideMaster1.xml" Id="R00633600c2a0414b" /><Relationship Type="http://schemas.openxmlformats.org/officeDocument/2006/relationships/notesMaster" Target="/ppt/notesMasters/notesMaster1.xml" Id="R6ad223f2ffc14b23" /><Relationship Type="http://schemas.openxmlformats.org/officeDocument/2006/relationships/presProps" Target="/ppt/presProps.xml" Id="Rc75d262d27b0484e" /><Relationship Type="http://schemas.openxmlformats.org/officeDocument/2006/relationships/tableStyles" Target="/ppt/tableStyles.xml" Id="R452aa9f00ba84836" /><Relationship Type="http://schemas.openxmlformats.org/officeDocument/2006/relationships/slide" Target="/ppt/slides/slide1.xml" Id="Rfa88b508ef034d9c" /><Relationship Type="http://schemas.openxmlformats.org/officeDocument/2006/relationships/slide" Target="/ppt/slides/slide2.xml" Id="Re56d80df3f7a4203" /><Relationship Type="http://schemas.openxmlformats.org/officeDocument/2006/relationships/slide" Target="/ppt/slides/slide3.xml" Id="Rb2f88ff6dfb241f5" /><Relationship Type="http://schemas.openxmlformats.org/officeDocument/2006/relationships/slide" Target="/ppt/slides/slide4.xml" Id="Rf2fde08b2e8840f5" /><Relationship Type="http://schemas.openxmlformats.org/officeDocument/2006/relationships/slide" Target="/ppt/slides/slide5.xml" Id="Raa74d93d16c24369" /><Relationship Type="http://schemas.openxmlformats.org/officeDocument/2006/relationships/slide" Target="/ppt/slides/slide6.xml" Id="R21a35288445a4964" /><Relationship Type="http://schemas.openxmlformats.org/officeDocument/2006/relationships/slide" Target="/ppt/slides/slide7.xml" Id="R363ea4c19797486b" /><Relationship Type="http://schemas.openxmlformats.org/officeDocument/2006/relationships/slide" Target="/ppt/slides/slide8.xml" Id="Re0535990cef7418d" /><Relationship Type="http://schemas.openxmlformats.org/officeDocument/2006/relationships/slide" Target="/ppt/slides/slide9.xml" Id="R99dc2c371ab04e70" /><Relationship Type="http://schemas.openxmlformats.org/officeDocument/2006/relationships/slide" Target="/ppt/slides/slide10.xml" Id="Ra2f902a3b8fd48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cee72a8a7a42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701bed44f8488e" /><Relationship Type="http://schemas.openxmlformats.org/officeDocument/2006/relationships/notesMaster" Target="/ppt/notesMasters/notesMaster1.xml" Id="Rd8c58c7517c3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af37900a644ac4" /><Relationship Type="http://schemas.openxmlformats.org/officeDocument/2006/relationships/notesMaster" Target="/ppt/notesMasters/notesMaster1.xml" Id="Rbb9089ef478d45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1b33c30da411e" /><Relationship Type="http://schemas.openxmlformats.org/officeDocument/2006/relationships/notesMaster" Target="/ppt/notesMasters/notesMaster1.xml" Id="Rbbee75b997ad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676a5db284e08" /><Relationship Type="http://schemas.openxmlformats.org/officeDocument/2006/relationships/notesMaster" Target="/ppt/notesMasters/notesMaster1.xml" Id="R57e1d002721a4c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a48ec7194a4821" /><Relationship Type="http://schemas.openxmlformats.org/officeDocument/2006/relationships/notesMaster" Target="/ppt/notesMasters/notesMaster1.xml" Id="R44d98a16e62444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5f752a6d942a8" /><Relationship Type="http://schemas.openxmlformats.org/officeDocument/2006/relationships/notesMaster" Target="/ppt/notesMasters/notesMaster1.xml" Id="R7e585602ad20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806ff4e55b4ec0" /><Relationship Type="http://schemas.openxmlformats.org/officeDocument/2006/relationships/notesMaster" Target="/ppt/notesMasters/notesMaster1.xml" Id="Rc8a3c9557c114c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00931c635a4ffe" /><Relationship Type="http://schemas.openxmlformats.org/officeDocument/2006/relationships/notesMaster" Target="/ppt/notesMasters/notesMaster1.xml" Id="R671ad391a2a942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fa58f234cb4309" /><Relationship Type="http://schemas.openxmlformats.org/officeDocument/2006/relationships/notesMaster" Target="/ppt/notesMasters/notesMaster1.xml" Id="R7676a07b7d5f4d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7808d9e06b4274" /><Relationship Type="http://schemas.openxmlformats.org/officeDocument/2006/relationships/notesMaster" Target="/ppt/notesMasters/notesMaster1.xml" Id="Rb219a4c226c1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157ae063d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24cc1b97ad45de" /><Relationship Type="http://schemas.openxmlformats.org/officeDocument/2006/relationships/slideLayout" Target="/ppt/slideLayouts/slideLayout1.xml" Id="R313f9bd5b040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f9bd5b040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f26f270cc4224" /><Relationship Type="http://schemas.openxmlformats.org/officeDocument/2006/relationships/notesSlide" Target="/ppt/notesSlides/notesSlide1.xml" Id="R5e0d79548c30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2812202954f89" /><Relationship Type="http://schemas.openxmlformats.org/officeDocument/2006/relationships/notesSlide" Target="/ppt/notesSlides/notesSlide2.xml" Id="Rfcd97dbf1fce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3892445324695" /><Relationship Type="http://schemas.openxmlformats.org/officeDocument/2006/relationships/notesSlide" Target="/ppt/notesSlides/notesSlide3.xml" Id="R4df900d23fb440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20a9aa7b4d65" /><Relationship Type="http://schemas.openxmlformats.org/officeDocument/2006/relationships/notesSlide" Target="/ppt/notesSlides/notesSlide4.xml" Id="R3ac334426f1d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7179f5b914211" /><Relationship Type="http://schemas.openxmlformats.org/officeDocument/2006/relationships/notesSlide" Target="/ppt/notesSlides/notesSlide5.xml" Id="R6bc631ca3f27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ba771225d4875" /><Relationship Type="http://schemas.openxmlformats.org/officeDocument/2006/relationships/notesSlide" Target="/ppt/notesSlides/notesSlide6.xml" Id="R1f61d2996b484b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14999a0bf4aac" /><Relationship Type="http://schemas.openxmlformats.org/officeDocument/2006/relationships/notesSlide" Target="/ppt/notesSlides/notesSlide7.xml" Id="R7c0776b4a2a8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c3ec275934c0d" /><Relationship Type="http://schemas.openxmlformats.org/officeDocument/2006/relationships/notesSlide" Target="/ppt/notesSlides/notesSlide8.xml" Id="R77c46b266d9d47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739ad1d904703" /><Relationship Type="http://schemas.openxmlformats.org/officeDocument/2006/relationships/notesSlide" Target="/ppt/notesSlides/notesSlide9.xml" Id="Rdecdebf8390045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c7b2cf4a0436f" /><Relationship Type="http://schemas.openxmlformats.org/officeDocument/2006/relationships/notesSlide" Target="/ppt/notesSlides/notesSlide10.xml" Id="R78d42185655043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464B53-C14D-4ABC-8EC8-FB740242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7CA1D-78BC-494E-ABA2-3383CE99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0806"/>
          </a:solidFill>
          <a:ln xmlns:a="http://schemas.openxmlformats.org/drawingml/2006/main" w="0">
            <a:solidFill>
              <a:srgbClr val="2308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C3208-6453-4625-8341-7A0E893E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 i="1">
                <a:solidFill>
                  <a:srgbClr val="F5F1E8"/>
                </a:solidFill>
              </a:defRPr>
            </a:pPr>
            <a:r>
              <a:rPr sz="5700" b="1" i="1">
                <a:solidFill>
                  <a:srgbClr val="F5F1E8"/>
                </a:solidFill>
              </a:rPr>
              <a:t>Parallax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6CB2-8782-4158-AA04-F362B82D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B7B1AA"/>
                </a:solidFill>
              </a:defRPr>
            </a:pPr>
            <a:r>
              <a:rPr sz="1875" b="0" i="0">
                <a:solidFill>
                  <a:srgbClr val="B7B1AA"/>
                </a:solidFill>
              </a:rPr>
              <a:t>A moderated video platform for productive disagreement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30619-F22E-4A65-AB14-C9DEB5F3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5A4F"/>
                </a:solidFill>
              </a:defRPr>
            </a:pPr>
            <a:r>
              <a:rPr sz="1650" b="1" i="0">
                <a:solidFill>
                  <a:srgbClr val="FF5A4F"/>
                </a:solidFill>
              </a:rPr>
              <a:t>Pitch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B0463-7C47-4D87-A3DD-9AE4131D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42950"/>
            <a:ext cx="3714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7E42A-7007-44C6-9FA4-066404C9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76300"/>
            <a:ext cx="34480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C2745-8A82-49AD-A8C2-8249B59C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HERO PRODUCT IMAGE</a:t>
            </a:r>
          </a:p>
        </p:txBody>
      </p:sp>
    </p:spTree>
    <p:extLst>
      <p:ext uri="{BB962C8B-B14F-4D97-AF65-F5344CB8AC3E}">
        <p14:creationId xmlns:p14="http://schemas.microsoft.com/office/powerpoint/2010/main" val="453112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32BF8-4ADF-4159-9428-F459249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AD3E-E972-49BD-8904-058A3B23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0AE46-5840-4A3D-8015-32181A6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A8F3A-66EF-45AB-AC6C-5F89802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88E92-1974-4EB0-BC67-7F92C7AB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The public square is high-friction and low-trust.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0801-5B59-43CB-9D87-E14DE07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72%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8A39-6F72-42F9-A907-E5E058D8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of Republicans said Democrats are more immoral than other Americans in Pew's 2022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B6538-E468-4360-9CC8-7C25D417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14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63%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438C6-359C-4ABF-8300-28C267B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of Democrats said Republicans are more immoral than other Americans in the same study.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C733D-CCF2-4FBC-B937-B1FF4AE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31%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0B9A5-E7EC-4F32-8310-0872F35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of U.S. adults said they trust mass media a great deal or fair amount, Gallup reported in 2024.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442C4-4DB0-4782-A316-583B46E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A30C4-C5D0-4B81-B2E7-9832038C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0907E-3AB4-4FDB-921A-0D13FD7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CHART OR NEWS COLLAGE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01FA6-254A-4ECA-833E-E32455CA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1E8"/>
                </a:solidFill>
              </a:defRPr>
            </a:pPr>
            <a:r>
              <a:rPr sz="1800" b="0" i="0">
                <a:solidFill>
                  <a:srgbClr val="F5F1E8"/>
                </a:solidFill>
              </a:rPr>
              <a:t>Existing feeds reward speed, performance, and certainty. Parallax is built for the missing opposite: time-bounded, moderated, human exchange.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89FA2-CA55-496C-8A9E-9EA13ED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D8780"/>
                </a:solidFill>
              </a:defRPr>
            </a:pPr>
            <a:r>
              <a:rPr sz="750" b="0" i="0">
                <a:solidFill>
                  <a:srgbClr val="8D8780"/>
                </a:solidFill>
              </a:rPr>
              <a:t>Sources: Pew Research Center, 2022; Gallup, 2024.</a:t>
            </a:r>
          </a:p>
        </p:txBody>
      </p:sp>
    </p:spTree>
    <p:extLst>
      <p:ext uri="{BB962C8B-B14F-4D97-AF65-F5344CB8AC3E}">
        <p14:creationId xmlns:p14="http://schemas.microsoft.com/office/powerpoint/2010/main" val="8602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CFC1A-CB1D-4996-80AA-DBC732F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284C0-8CE3-4789-99CF-A58C52B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80CE1-3625-4686-8D4E-EC9CBFE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DB5E1-936F-46F4-9966-D2F8931E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25544-19A2-4310-AFA5-D31E29A5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Rationale: make disagreement useful again.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81F22-44FC-4518-B6C3-C436B056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233AD-B32C-41B4-8D3B-B845999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554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1E8"/>
                </a:solidFill>
              </a:defRPr>
            </a:pPr>
            <a:r>
              <a:rPr sz="1800" b="0" i="0">
                <a:solidFill>
                  <a:srgbClr val="F5F1E8"/>
                </a:solidFill>
              </a:rPr>
              <a:t>Host real conversations where people test ideas instead of performing identity.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1FB80-AF90-4C72-85E8-DEA83357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4D84-7FAE-45F6-A08D-D26984A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554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1E8"/>
                </a:solidFill>
              </a:defRPr>
            </a:pPr>
            <a:r>
              <a:rPr sz="1800" b="0" i="0">
                <a:solidFill>
                  <a:srgbClr val="F5F1E8"/>
                </a:solidFill>
              </a:rPr>
              <a:t>Build debate skills: listening, framing, evidence, rebuttal, and respectful exits.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D660-B8EE-46FA-8AE5-67B308D8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4900B-7819-459E-B7D7-F28C61ED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5543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5F1E8"/>
                </a:solidFill>
              </a:defRPr>
            </a:pPr>
            <a:r>
              <a:rPr sz="1800" b="0" i="0">
                <a:solidFill>
                  <a:srgbClr val="F5F1E8"/>
                </a:solidFill>
              </a:rPr>
              <a:t>Create a civic learning loop for an increasingly polarised society.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FB930-6656-4C0D-9CAE-1CF6421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908"/>
          </a:solidFill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7144D-27AD-4AF3-A7E1-E435F6A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A4F"/>
                </a:solidFill>
              </a:defRPr>
            </a:pPr>
            <a:r>
              <a:rPr sz="1800" b="1" i="0">
                <a:solidFill>
                  <a:srgbClr val="FF5A4F"/>
                </a:solidFill>
              </a:rPr>
              <a:t>Core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7DEE5-F282-4C15-AA7B-25570A1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2571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1E8"/>
                </a:solidFill>
              </a:defRPr>
            </a:pPr>
            <a:r>
              <a:rPr sz="2100" b="1" i="0">
                <a:solidFill>
                  <a:srgbClr val="F5F1E8"/>
                </a:solidFill>
              </a:rPr>
              <a:t>People do not need another comment section. They need a room, a counterview, and enough context to stay honest.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29DBE-54FE-414E-BC2B-246BB1E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D8780"/>
                </a:solidFill>
              </a:defRPr>
            </a:pPr>
            <a:r>
              <a:rPr sz="750" b="0" i="0">
                <a:solidFill>
                  <a:srgbClr val="8D8780"/>
                </a:solidFill>
              </a:rPr>
              <a:t>Context: U.S. Surgeon General Advisory on Social Connection, 2023; Parallax product rationale.</a:t>
            </a:r>
          </a:p>
        </p:txBody>
      </p:sp>
    </p:spTree>
    <p:extLst>
      <p:ext uri="{BB962C8B-B14F-4D97-AF65-F5344CB8AC3E}">
        <p14:creationId xmlns:p14="http://schemas.microsoft.com/office/powerpoint/2010/main" val="451602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B3F436-E079-40CD-8FAD-293A579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7EEE8-141F-45FC-B969-43D6BDF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BC3E-3EAD-4FB9-A648-C35BA9A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BBCE2-1C2D-4B76-AA05-388F6113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F6081-6271-4210-B3C2-1E623F34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How Parallax works.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1EB23-752F-4C85-9ADE-4F75C66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43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80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6FE57-09C9-4F09-9A4B-CABB07B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5A4F"/>
                </a:solidFill>
              </a:defRPr>
            </a:pPr>
            <a:r>
              <a:rPr sz="2700" b="1" i="0">
                <a:solidFill>
                  <a:srgbClr val="FF5A4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5A95A-83FE-4A23-8152-3C93467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1E8"/>
                </a:solidFill>
              </a:defRPr>
            </a:pPr>
            <a:r>
              <a:rPr sz="1800" b="1" i="0">
                <a:solidFill>
                  <a:srgbClr val="F5F1E8"/>
                </a:solidFill>
              </a:rPr>
              <a:t>Answer a short values 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453A6-D603-4E23-B143-1014F39D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7B1AA"/>
                </a:solidFill>
              </a:defRPr>
            </a:pPr>
            <a:r>
              <a:rPr sz="1275" b="0" i="0">
                <a:solidFill>
                  <a:srgbClr val="B7B1AA"/>
                </a:solidFill>
              </a:rPr>
              <a:t>The app builds a lightweight signal for matching and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4C77-09FB-4D6D-8A5C-E51DCBE1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343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D1DD8-DB6F-4420-BC97-83C81D5D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5A4F"/>
                </a:solidFill>
              </a:defRPr>
            </a:pPr>
            <a:r>
              <a:rPr sz="2700" b="1" i="0">
                <a:solidFill>
                  <a:srgbClr val="FF5A4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DF9A4-FA4C-4BF1-8674-23760D3E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1E8"/>
                </a:solidFill>
              </a:defRPr>
            </a:pPr>
            <a:r>
              <a:rPr sz="1800" b="1" i="0">
                <a:solidFill>
                  <a:srgbClr val="F5F1E8"/>
                </a:solidFill>
              </a:rPr>
              <a:t>Choose a live tension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0A2FC-8A4F-4AD5-9D08-11B2EA8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7B1AA"/>
                </a:solidFill>
              </a:defRPr>
            </a:pPr>
            <a:r>
              <a:rPr sz="1275" b="0" i="0">
                <a:solidFill>
                  <a:srgbClr val="B7B1AA"/>
                </a:solidFill>
              </a:rPr>
              <a:t>Users pick the question they actually want to sit inside.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669B6-55BA-4985-9F59-0BAE0EC5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343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80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037EF-74BA-487E-9618-1F30911F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5A4F"/>
                </a:solidFill>
              </a:defRPr>
            </a:pPr>
            <a:r>
              <a:rPr sz="2700" b="1" i="0">
                <a:solidFill>
                  <a:srgbClr val="FF5A4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00D62-BFC7-4DC5-9533-4815220B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1E8"/>
                </a:solidFill>
              </a:defRPr>
            </a:pPr>
            <a:r>
              <a:rPr sz="1800" b="1" i="0">
                <a:solidFill>
                  <a:srgbClr val="F5F1E8"/>
                </a:solidFill>
              </a:rPr>
              <a:t>Enter a moderated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C5D7E-13E3-4959-8DE7-5B0BFFE1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7B1AA"/>
                </a:solidFill>
              </a:defRPr>
            </a:pPr>
            <a:r>
              <a:rPr sz="1275" b="0" i="0">
                <a:solidFill>
                  <a:srgbClr val="B7B1AA"/>
                </a:solidFill>
              </a:rPr>
              <a:t>Video opens with context cards, safety controls, and exit paths.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103A-0730-4F4A-94C7-D5D4979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343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D9C27-2025-4961-BBBA-9526ACA7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5A4F"/>
                </a:solidFill>
              </a:defRPr>
            </a:pPr>
            <a:r>
              <a:rPr sz="2700" b="1" i="0">
                <a:solidFill>
                  <a:srgbClr val="FF5A4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BFDC2-5A5F-4B36-81F2-4E5DF6E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1E8"/>
                </a:solidFill>
              </a:defRPr>
            </a:pPr>
            <a:r>
              <a:rPr sz="1800" b="1" i="0">
                <a:solidFill>
                  <a:srgbClr val="F5F1E8"/>
                </a:solidFill>
              </a:rPr>
              <a:t>Reflect and improve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32BC2-EAFD-43EA-8D9E-8B3CDA5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7B1AA"/>
                </a:solidFill>
              </a:defRPr>
            </a:pPr>
            <a:r>
              <a:rPr sz="1275" b="0" i="0">
                <a:solidFill>
                  <a:srgbClr val="B7B1AA"/>
                </a:solidFill>
              </a:rPr>
              <a:t>Post-room prompts turn conversation into debate-skill growth.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6C6C6-2557-4A6C-BA22-E1A0435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EA458-5C01-4356-9DDD-0402074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8635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398B5-F319-4C58-B354-08ED86C5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38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APP SCREENSHOT</a:t>
            </a:r>
          </a:p>
        </p:txBody>
      </p:sp>
    </p:spTree>
    <p:extLst>
      <p:ext uri="{BB962C8B-B14F-4D97-AF65-F5344CB8AC3E}">
        <p14:creationId xmlns:p14="http://schemas.microsoft.com/office/powerpoint/2010/main" val="898201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04380-2C97-4AF0-9ED6-3DFAE18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E595-98AE-4DD8-A7E1-17BBFD8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88412-6EB4-4B64-9119-3BD60919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TRUST &amp;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7AC2E-C9D0-4776-9AC4-357528BD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A0CBA-F43E-471B-AEB5-58E8668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Designed for honesty without chaos.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58ECB-6365-4BAC-A459-68C5822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EAE23-58FF-4D0B-BA2C-18B298D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592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1E8"/>
                </a:solidFill>
              </a:defRPr>
            </a:pPr>
            <a:r>
              <a:rPr sz="1575" b="0" i="0">
                <a:solidFill>
                  <a:srgbClr val="F5F1E8"/>
                </a:solidFill>
              </a:rPr>
              <a:t>Anonymous-by-default rooms reduce status games while preserving reporting and escalation.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CEC37-3C5B-4B95-B7DE-CE9DD6F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691A9-979F-4559-A464-FAE125BF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592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1E8"/>
                </a:solidFill>
              </a:defRPr>
            </a:pPr>
            <a:r>
              <a:rPr sz="1575" b="0" i="0">
                <a:solidFill>
                  <a:srgbClr val="F5F1E8"/>
                </a:solidFill>
              </a:rPr>
              <a:t>Moderation layer: topic boundaries, abuse detection, room controls, and visible exits.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5ECB6-8D65-41C1-889A-2411109E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4C515-DB99-4A30-91CC-194B040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592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1E8"/>
                </a:solidFill>
              </a:defRPr>
            </a:pPr>
            <a:r>
              <a:rPr sz="1575" b="0" i="0">
                <a:solidFill>
                  <a:srgbClr val="F5F1E8"/>
                </a:solidFill>
              </a:rPr>
              <a:t>Context cards bring factual grounding into the conversation without pretending to referee truth perfectly.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F61B2-AFE6-42EC-B524-8F8BD7F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4F70A-8957-4D87-9552-0EA0580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592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1E8"/>
                </a:solidFill>
              </a:defRPr>
            </a:pPr>
            <a:r>
              <a:rPr sz="1575" b="0" i="0">
                <a:solidFill>
                  <a:srgbClr val="F5F1E8"/>
                </a:solidFill>
              </a:rPr>
              <a:t>Structured prompts help users practice claims, evidence, steelmanning, and rebuttal.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009B9-77B6-4E10-9C64-F05B1DA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9B96B-BE34-4FCE-896C-F249BA4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29718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9388D-BB70-4807-9EA7-8E0C0A5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SAFETY FLOW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5D1CB-DA8B-418D-911C-64D30EF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1E8"/>
                </a:solidFill>
              </a:defRPr>
            </a:pPr>
            <a:r>
              <a:rPr sz="1500" b="1" i="0">
                <a:solidFill>
                  <a:srgbClr val="F5F1E8"/>
                </a:solidFill>
              </a:rPr>
              <a:t>Principle: lower the social cost of being curious; raise the cost of bad-faith behavior.</a:t>
            </a:r>
          </a:p>
        </p:txBody>
      </p:sp>
    </p:spTree>
    <p:extLst>
      <p:ext uri="{BB962C8B-B14F-4D97-AF65-F5344CB8AC3E}">
        <p14:creationId xmlns:p14="http://schemas.microsoft.com/office/powerpoint/2010/main" val="27245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55ED6-6459-4BA4-930F-631279C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8DB1-1E73-4E1C-9364-EE73E3A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3A65-1323-4293-8DF6-8845CD5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SKILL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0CBA8-DF88-4056-9F87-B2F0A85C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5C0B0-5668-42CA-ACB0-1C34F104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The skill stack is becoming more valuable.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9F4BA-53CA-4D7B-8D27-F14979F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50835-2E2D-4541-A2D2-4F18C0B8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of employers expect analytical thinking to be a core skill by 2030, according to WEF.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EE7D0-A500-4782-9B2F-E99B4804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76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67%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D518B-A5A3-4DD0-9A43-243570EE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expect resilience, flexibility, and agility to be core skills by 2030.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FA51B-5281-41F9-952D-E062A81A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5A4F"/>
                </a:solidFill>
              </a:defRPr>
            </a:pPr>
            <a:r>
              <a:rPr sz="3750" b="1" i="0">
                <a:solidFill>
                  <a:srgbClr val="FF5A4F"/>
                </a:solidFill>
              </a:rPr>
              <a:t>96%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0FB02-F29D-4A58-89D4-76B9989B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5F1E8"/>
                </a:solidFill>
              </a:defRPr>
            </a:pPr>
            <a:r>
              <a:rPr sz="1275" b="0" i="0">
                <a:solidFill>
                  <a:srgbClr val="F5F1E8"/>
                </a:solidFill>
              </a:rPr>
              <a:t>of AAC&amp;U employer respondents rated critical thinking as very or somewhat important.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EC044-FF9D-4CB7-A86E-E521B1D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1E8"/>
                </a:solidFill>
              </a:defRPr>
            </a:pPr>
            <a:r>
              <a:rPr sz="2100" b="1" i="0">
                <a:solidFill>
                  <a:srgbClr val="F5F1E8"/>
                </a:solidFill>
              </a:rPr>
              <a:t>Parallax turns debate from a one-off performance into a repeatable practice loop: prepare, converse, reflect, improve.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EAF54-2E33-49C7-8548-C65F51A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D8780"/>
                </a:solidFill>
              </a:defRPr>
            </a:pPr>
            <a:r>
              <a:rPr sz="750" b="0" i="0">
                <a:solidFill>
                  <a:srgbClr val="8D8780"/>
                </a:solidFill>
              </a:rPr>
              <a:t>Sources: World Economic Forum, Future of Jobs Report 2025; AAC&amp;U employer survey, 2023.</a:t>
            </a:r>
          </a:p>
        </p:txBody>
      </p:sp>
    </p:spTree>
    <p:extLst>
      <p:ext uri="{BB962C8B-B14F-4D97-AF65-F5344CB8AC3E}">
        <p14:creationId xmlns:p14="http://schemas.microsoft.com/office/powerpoint/2010/main" val="467077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0F24F-EDB0-48FA-814B-26BEE1B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49B4-75DC-41B8-B804-A9ED650C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E7F82-0E23-40B8-B41C-7B9A166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725BE-1570-49D7-8473-44F6581A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B2D7-5461-4539-95F0-A4F9284F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Monetisation: recurring, mission-aligned revenue.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9BDD4-F295-425B-9D1B-C09D2A66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80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080EC-B807-4ACD-B204-2B94E36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9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A4F"/>
                </a:solidFill>
              </a:defRPr>
            </a:pPr>
            <a:r>
              <a:rPr sz="1800" b="1" i="0">
                <a:solidFill>
                  <a:srgbClr val="FF5A4F"/>
                </a:solidFill>
              </a:rPr>
              <a:t>Consumer 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91AC6-CCFB-4BFB-B012-BC8BA919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288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Premium rooms, advanced skill reports, custom topic tracks.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2AA48-68BB-4164-8513-AA9D998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B3348-B66B-4082-8BD1-D7A6E313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A4F"/>
                </a:solidFill>
              </a:defRPr>
            </a:pPr>
            <a:r>
              <a:rPr sz="1800" b="1" i="0">
                <a:solidFill>
                  <a:srgbClr val="FF5A4F"/>
                </a:solidFill>
              </a:rPr>
              <a:t>Campus / school licenses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9D9EF-5F39-4F76-9A6C-810506B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Cohorts, educator dashboards, debate-club programming, civic learning pilots.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672B-3903-4F70-AEB2-D5EDBA0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80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A4F31-9A3F-40CC-A0B9-C58AF2A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A4F"/>
                </a:solidFill>
              </a:defRPr>
            </a:pPr>
            <a:r>
              <a:rPr sz="1800" b="1" i="0">
                <a:solidFill>
                  <a:srgbClr val="FF5A4F"/>
                </a:solidFill>
              </a:rPr>
              <a:t>Civic &amp; media partners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51C53-D0F0-4C72-87A2-724BEEC7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814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Hosted issue rooms around elections, local policy, journalism, and community forums.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9B7A2-7BBB-44B7-AD3A-1017DBE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60C12-52B5-49F8-812B-E921472C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5A4F"/>
                </a:solidFill>
              </a:defRPr>
            </a:pPr>
            <a:r>
              <a:rPr sz="1800" b="1" i="0">
                <a:solidFill>
                  <a:srgbClr val="FF5A4F"/>
                </a:solidFill>
              </a:rPr>
              <a:t>Enterprise L&amp;D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93941-0F76-49DE-B259-BC84026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577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Practice difficult conversations: feedback, negotiation, leadership, and inclusion topics.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612E2-4821-437B-BE63-2FC62F53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B1AA"/>
                </a:solidFill>
              </a:defRPr>
            </a:pPr>
            <a:r>
              <a:rPr sz="1425" b="0" i="0">
                <a:solidFill>
                  <a:srgbClr val="B7B1AA"/>
                </a:solidFill>
              </a:rPr>
              <a:t>Privacy-preserving analytics only: aggregate learning signals, never raw private conversations as a data product.</a:t>
            </a:r>
          </a:p>
        </p:txBody>
      </p:sp>
    </p:spTree>
    <p:extLst>
      <p:ext uri="{BB962C8B-B14F-4D97-AF65-F5344CB8AC3E}">
        <p14:creationId xmlns:p14="http://schemas.microsoft.com/office/powerpoint/2010/main" val="1847259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992A3-FCC0-44F7-A5E2-F28952D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8BA5B-374E-4D35-83D3-6016C07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060AF-BF0E-4E13-99CC-BB8FEE6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GO TO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2BD0B-2CBB-49C1-9143-E97236F2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3FBF8-23CB-4848-8E13-A46653E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Start with communities that already need better discourse.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5D6E6-AFB4-4206-86B4-7672416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309C-E8BC-414B-BCCB-749D54C7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563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1E8"/>
                </a:solidFill>
              </a:defRPr>
            </a:pPr>
            <a:r>
              <a:rPr sz="1725" b="0" i="0">
                <a:solidFill>
                  <a:srgbClr val="F5F1E8"/>
                </a:solidFill>
              </a:rPr>
              <a:t>Launch pilots with universities, debate societies, civics teachers, and youth leadership programs.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3FEC2-B8B0-4A36-96D8-5E7357DE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87844-FB91-479B-AD68-87EF9A02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563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1E8"/>
                </a:solidFill>
              </a:defRPr>
            </a:pPr>
            <a:r>
              <a:rPr sz="1725" b="0" i="0">
                <a:solidFill>
                  <a:srgbClr val="F5F1E8"/>
                </a:solidFill>
              </a:rPr>
              <a:t>Partner with local newsrooms and civic nonprofits around high-salience public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325D0-5871-4521-9800-0BC5890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61118-0117-45DF-9CFB-9CAAEF5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563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1E8"/>
                </a:solidFill>
              </a:defRPr>
            </a:pPr>
            <a:r>
              <a:rPr sz="1725" b="0" i="0">
                <a:solidFill>
                  <a:srgbClr val="F5F1E8"/>
                </a:solidFill>
              </a:rPr>
              <a:t>Use hosted rooms, facilitator toolkits, and creator-led issue nights to seed repeat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31A8-7A77-4B2F-8DBB-40C8D1B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02BF6-54FD-4662-A941-81743D3C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3100"/>
            <a:ext cx="31623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821EC-A545-4BB7-A267-C2139115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99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COMMUNITY / CAMPUS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B1D58-23CD-45C5-A25E-74BBE20B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768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F1E8"/>
                </a:solidFill>
              </a:defRPr>
            </a:pPr>
            <a:r>
              <a:rPr sz="1425" b="1" i="0">
                <a:solidFill>
                  <a:srgbClr val="F5F1E8"/>
                </a:solidFill>
              </a:rPr>
              <a:t>Early traction metric: completed rooms + repeat participation + self-reported confidence in disagreement.</a:t>
            </a:r>
          </a:p>
        </p:txBody>
      </p:sp>
    </p:spTree>
    <p:extLst>
      <p:ext uri="{BB962C8B-B14F-4D97-AF65-F5344CB8AC3E}">
        <p14:creationId xmlns:p14="http://schemas.microsoft.com/office/powerpoint/2010/main" val="962813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2D583-CC28-49F2-ACD9-BB5EC30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EB870-8651-4711-AB6D-4E078885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BD76F-5791-4055-BDA6-44D9C47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55718-3313-42F8-AAF4-966D3FD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17E0F-7A28-41AD-A38B-8DA24ACA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Roadmap and 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E1E4B-8D9A-4C95-B7FB-3CF6653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19050">
            <a:solidFill>
              <a:srgbClr val="6B67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87779-0348-44FC-8A27-800B941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5A4F"/>
                </a:solidFill>
              </a:defRPr>
            </a:pPr>
            <a:r>
              <a:rPr sz="2100" b="1" i="0">
                <a:solidFill>
                  <a:srgbClr val="FF5A4F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7CE6A-2F6C-46B2-9E9A-513597D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Web MVP, topic selection, matching, LiveKit rooms, context cards.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FEB70-C4F5-4D87-ADC6-1A5B07B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19050">
            <a:solidFill>
              <a:srgbClr val="6B67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01629-458D-4AAF-97EA-201CB115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5A4F"/>
                </a:solidFill>
              </a:defRPr>
            </a:pPr>
            <a:r>
              <a:rPr sz="2100" b="1" i="0">
                <a:solidFill>
                  <a:srgbClr val="FF5A4F"/>
                </a:solidFill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50E1A-50D9-4E85-A385-2EC90BC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Skill scoring, facilitator tools, richer moderation, post-room reflection.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845AB-0719-41A3-BC28-00CEAC4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0806"/>
          </a:solidFill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C4138-CA8E-430F-A72D-EC6C9DD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5A4F"/>
                </a:solidFill>
              </a:defRPr>
            </a:pPr>
            <a:r>
              <a:rPr sz="2100" b="1" i="0">
                <a:solidFill>
                  <a:srgbClr val="FF5A4F"/>
                </a:solidFill>
              </a:rPr>
              <a:t>Pilot 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FB319-2A53-4D80-9CE6-5CAB08C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1E8"/>
                </a:solidFill>
              </a:defRPr>
            </a:pPr>
            <a:r>
              <a:rPr sz="1500" b="0" i="0">
                <a:solidFill>
                  <a:srgbClr val="F5F1E8"/>
                </a:solidFill>
              </a:rPr>
              <a:t>3-5 launch partners for structured debate cohorts and issue-room programming.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1D0EA-0422-4EF6-B11E-10422CC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1E8"/>
                </a:solidFill>
              </a:defRPr>
            </a:pPr>
            <a:r>
              <a:rPr sz="1875" b="1" i="0">
                <a:solidFill>
                  <a:srgbClr val="F5F1E8"/>
                </a:solidFill>
              </a:rPr>
              <a:t>Parallax is a product bet on a simple cultural need: people want better arguments, but need a safer room to practice them.</a:t>
            </a:r>
          </a:p>
        </p:txBody>
      </p:sp>
    </p:spTree>
    <p:extLst>
      <p:ext uri="{BB962C8B-B14F-4D97-AF65-F5344CB8AC3E}">
        <p14:creationId xmlns:p14="http://schemas.microsoft.com/office/powerpoint/2010/main" val="796520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023A0-8F76-4513-A57D-0F8D606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303"/>
          </a:solidFill>
          <a:ln xmlns:a="http://schemas.openxmlformats.org/drawingml/2006/main" w="0">
            <a:solidFill>
              <a:srgbClr val="03030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936E4-FA80-40E8-A768-720B4891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DDECF-AE02-4434-9B21-E3A7889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5A4F"/>
                </a:solidFill>
              </a:defRPr>
            </a:pPr>
            <a:r>
              <a:rPr sz="1050" b="1" i="0">
                <a:solidFill>
                  <a:srgbClr val="FF5A4F"/>
                </a:solidFill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D3558-CEB4-4E31-B10B-54610B0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7B1AA"/>
                </a:solidFill>
              </a:defRPr>
            </a:pPr>
            <a:r>
              <a:rPr sz="1050" b="1" i="0">
                <a:solidFill>
                  <a:srgbClr val="B7B1A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2AEDC-5882-4B2D-A6C4-462ED9E0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1E8"/>
                </a:solidFill>
              </a:defRPr>
            </a:pPr>
            <a:r>
              <a:rPr sz="3150" b="1" i="0">
                <a:solidFill>
                  <a:srgbClr val="F5F1E8"/>
                </a:solidFill>
              </a:rPr>
              <a:t>Sources and image placeholders.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67413-545B-40D8-982D-5C77F654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5A4F"/>
                </a:solidFill>
              </a:defRPr>
            </a:pPr>
            <a:r>
              <a:rPr sz="1950" b="1" i="0">
                <a:solidFill>
                  <a:srgbClr val="FF5A4F"/>
                </a:solidFill>
              </a:rPr>
              <a:t>Statistics used in this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0323-7E98-4822-9753-E83B41F3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34CFC-D32F-4182-844F-50C9B13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1E8"/>
                </a:solidFill>
              </a:defRPr>
            </a:pPr>
            <a:r>
              <a:rPr sz="1350" b="0" i="0">
                <a:solidFill>
                  <a:srgbClr val="F5F1E8"/>
                </a:solidFill>
              </a:rPr>
              <a:t>Pew Research Center, "As Partisan Hostility Grows...", 2022.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16CA1-E168-47B3-A9A8-3905E691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FDAFE-4825-426D-A308-B792C0E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1E8"/>
                </a:solidFill>
              </a:defRPr>
            </a:pPr>
            <a:r>
              <a:rPr sz="1350" b="0" i="0">
                <a:solidFill>
                  <a:srgbClr val="F5F1E8"/>
                </a:solidFill>
              </a:rPr>
              <a:t>Gallup, "Americans' Trust in Media Remains at Trend Low", 2024.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BCBD6-825B-4C6E-BDAF-76BD0270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3D080-CB3C-4459-97BE-D88B21AE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1E8"/>
                </a:solidFill>
              </a:defRPr>
            </a:pPr>
            <a:r>
              <a:rPr sz="1350" b="0" i="0">
                <a:solidFill>
                  <a:srgbClr val="F5F1E8"/>
                </a:solidFill>
              </a:rPr>
              <a:t>U.S. Surgeon General, "Our Epidemic of Loneliness and Isolation", 2023.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427CF-072E-47DC-9BEB-367D1F90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5FCDB-7693-47EC-815B-2B7DB1D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1E8"/>
                </a:solidFill>
              </a:defRPr>
            </a:pPr>
            <a:r>
              <a:rPr sz="1350" b="0" i="0">
                <a:solidFill>
                  <a:srgbClr val="F5F1E8"/>
                </a:solidFill>
              </a:rPr>
              <a:t>World Economic Forum, Future of Jobs Report 2025.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8ACFC-282B-40B8-98B0-D2107C50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32"/>
          </a:solidFill>
          <a:ln xmlns:a="http://schemas.openxmlformats.org/drawingml/2006/main" w="0">
            <a:solidFill>
              <a:srgbClr val="E83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72325-51D9-40DC-9A28-30CB24C7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563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1E8"/>
                </a:solidFill>
              </a:defRPr>
            </a:pPr>
            <a:r>
              <a:rPr sz="1350" b="0" i="0">
                <a:solidFill>
                  <a:srgbClr val="F5F1E8"/>
                </a:solidFill>
              </a:rPr>
              <a:t>AAC&amp;U employer survey on critical thinking and communication, 2023.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36DEC-E216-4747-AF16-284EBA6D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6B67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3C670-7DBA-4349-A9D6-1DDE69C5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2971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D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F077A-12E6-4959-BCAA-46249D5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051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7B1AA"/>
                </a:solidFill>
              </a:defRPr>
            </a:pPr>
            <a:r>
              <a:rPr sz="1350" b="1" i="0">
                <a:solidFill>
                  <a:srgbClr val="B7B1AA"/>
                </a:solidFill>
              </a:rPr>
              <a:t>REPLACE WITH FINAL VISUALS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33058-E461-4507-91AC-57C757CF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5F1E8"/>
                </a:solidFill>
              </a:defRPr>
            </a:pPr>
            <a:r>
              <a:rPr sz="1425" b="0" i="0">
                <a:solidFill>
                  <a:srgbClr val="F5F1E8"/>
                </a:solidFill>
              </a:rPr>
              <a:t>Image placeholders are intentionally editable frames for product screenshots, user research photos, campus/community imagery, or press-style visuals.</a:t>
            </a:r>
          </a:p>
        </p:txBody>
      </p:sp>
    </p:spTree>
    <p:extLst>
      <p:ext uri="{BB962C8B-B14F-4D97-AF65-F5344CB8AC3E}">
        <p14:creationId xmlns:p14="http://schemas.microsoft.com/office/powerpoint/2010/main" val="895265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2026-06-27T08:06:14.2720000Z</dcterms:created>
  <dcterms:modified xsi:type="dcterms:W3CDTF">2026-06-27T08:06:14.2720000Z</dcterms:modified>
</coreProperties>
</file>